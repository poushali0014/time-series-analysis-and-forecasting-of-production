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79" r:id="rId3"/>
    <p:sldId id="280" r:id="rId4"/>
    <p:sldId id="257" r:id="rId5"/>
    <p:sldId id="258" r:id="rId6"/>
    <p:sldId id="259" r:id="rId7"/>
    <p:sldId id="261" r:id="rId8"/>
    <p:sldId id="262" r:id="rId9"/>
    <p:sldId id="263" r:id="rId10"/>
    <p:sldId id="266" r:id="rId11"/>
    <p:sldId id="267" r:id="rId12"/>
    <p:sldId id="268" r:id="rId13"/>
    <p:sldId id="269" r:id="rId14"/>
    <p:sldId id="270"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B928D6-15CC-4E55-A12D-52A3EE108D36}" type="datetimeFigureOut">
              <a:rPr lang="en-IN" smtClean="0"/>
              <a:t>02-09-2026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2174892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928D6-15CC-4E55-A12D-52A3EE108D36}" type="datetimeFigureOut">
              <a:rPr lang="en-IN" smtClean="0"/>
              <a:t>02-09-2026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0168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B928D6-15CC-4E55-A12D-52A3EE108D36}" type="datetimeFigureOut">
              <a:rPr lang="en-IN" smtClean="0"/>
              <a:t>02-09-2026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623075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286330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B928D6-15CC-4E55-A12D-52A3EE108D36}" type="datetimeFigureOut">
              <a:rPr lang="en-IN" smtClean="0"/>
              <a:t>02-09-2026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734336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B928D6-15CC-4E55-A12D-52A3EE108D36}" type="datetimeFigureOut">
              <a:rPr lang="en-IN" smtClean="0"/>
              <a:t>02-09-2026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678737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928D6-15CC-4E55-A12D-52A3EE108D36}" type="datetimeFigureOut">
              <a:rPr lang="en-IN" smtClean="0"/>
              <a:t>02-09-2026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686412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832111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552530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689795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440907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34026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B928D6-15CC-4E55-A12D-52A3EE108D36}" type="datetimeFigureOut">
              <a:rPr lang="en-IN" smtClean="0"/>
              <a:t>02-09-2026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392321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B928D6-15CC-4E55-A12D-52A3EE108D36}" type="datetimeFigureOut">
              <a:rPr lang="en-IN" smtClean="0"/>
              <a:t>02-09-2026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276786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B928D6-15CC-4E55-A12D-52A3EE108D36}" type="datetimeFigureOut">
              <a:rPr lang="en-IN" smtClean="0"/>
              <a:t>02-09-2026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19013741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928D6-15CC-4E55-A12D-52A3EE108D36}" type="datetimeFigureOut">
              <a:rPr lang="en-IN" smtClean="0"/>
              <a:t>02-09-2026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350932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928D6-15CC-4E55-A12D-52A3EE108D36}" type="datetimeFigureOut">
              <a:rPr lang="en-IN" smtClean="0"/>
              <a:t>02-09-2026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DFFD2A-0E54-4F4A-9A5C-F0578C9CA17E}" type="slidenum">
              <a:rPr lang="en-IN" smtClean="0"/>
              <a:t>‹#›</a:t>
            </a:fld>
            <a:endParaRPr lang="en-IN"/>
          </a:p>
        </p:txBody>
      </p:sp>
    </p:spTree>
    <p:extLst>
      <p:ext uri="{BB962C8B-B14F-4D97-AF65-F5344CB8AC3E}">
        <p14:creationId xmlns:p14="http://schemas.microsoft.com/office/powerpoint/2010/main" val="34731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EB928D6-15CC-4E55-A12D-52A3EE108D36}" type="datetimeFigureOut">
              <a:rPr lang="en-IN" smtClean="0"/>
              <a:t>02-09-2026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FDFFD2A-0E54-4F4A-9A5C-F0578C9CA17E}" type="slidenum">
              <a:rPr lang="en-IN" smtClean="0"/>
              <a:t>‹#›</a:t>
            </a:fld>
            <a:endParaRPr lang="en-IN"/>
          </a:p>
        </p:txBody>
      </p:sp>
    </p:spTree>
    <p:extLst>
      <p:ext uri="{BB962C8B-B14F-4D97-AF65-F5344CB8AC3E}">
        <p14:creationId xmlns:p14="http://schemas.microsoft.com/office/powerpoint/2010/main" val="3196556814"/>
      </p:ext>
    </p:extLst>
  </p:cSld>
  <p:clrMap bg1="dk1" tx1="lt1" bg2="dk2" tx2="lt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edium.com/@ritusantra/introduction-to-sarima-model-cbb885ceabe8" TargetMode="External"/><Relationship Id="rId2" Type="http://schemas.openxmlformats.org/officeDocument/2006/relationships/hyperlink" Target="https://www.machinelearningplus.com/time-series/augmented-dickey-fuller-test/" TargetMode="External"/><Relationship Id="rId1" Type="http://schemas.openxmlformats.org/officeDocument/2006/relationships/slideLayout" Target="../slideLayouts/slideLayout2.xml"/><Relationship Id="rId6" Type="http://schemas.openxmlformats.org/officeDocument/2006/relationships/hyperlink" Target="https://online.stat.psu.edu/stat510/lesson/3/3.2" TargetMode="External"/><Relationship Id="rId5" Type="http://schemas.openxmlformats.org/officeDocument/2006/relationships/hyperlink" Target="https://rucore.libraries.rutgers.edu/rutgers-lib/34211/PDF/1/play/" TargetMode="External"/><Relationship Id="rId4" Type="http://schemas.openxmlformats.org/officeDocument/2006/relationships/hyperlink" Target="https://people.stat.sc.edu/hitchcock/stat520ch6slides.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18000"/>
                <a:satMod val="160000"/>
                <a:lumMod val="28000"/>
              </a:schemeClr>
              <a:schemeClr val="bg2">
                <a:tint val="95000"/>
                <a:satMod val="160000"/>
                <a:lumMod val="116000"/>
              </a:schemeClr>
            </a:duotone>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73BC288-A7AE-B767-0CE5-16C5C839CF59}"/>
              </a:ext>
            </a:extLst>
          </p:cNvPr>
          <p:cNvPicPr>
            <a:picLocks noChangeAspect="1"/>
          </p:cNvPicPr>
          <p:nvPr/>
        </p:nvPicPr>
        <p:blipFill>
          <a:blip r:embed="rId3">
            <a:alphaModFix amt="61000"/>
            <a:extLst>
              <a:ext uri="{BEBA8EAE-BF5A-486C-A8C5-ECC9F3942E4B}">
                <a14:imgProps xmlns:a14="http://schemas.microsoft.com/office/drawing/2010/main">
                  <a14:imgLayer r:embed="rId4">
                    <a14:imgEffect>
                      <a14:saturation sat="101000"/>
                    </a14:imgEffect>
                    <a14:imgEffect>
                      <a14:brightnessContrast bright="9000" contrast="-3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a:effectLst>
            <a:outerShdw blurRad="76200" dist="50800" dir="5400000" algn="ctr" rotWithShape="0">
              <a:srgbClr val="000000"/>
            </a:outerShdw>
          </a:effectLst>
        </p:spPr>
      </p:pic>
      <p:sp>
        <p:nvSpPr>
          <p:cNvPr id="2" name="Title 1">
            <a:extLst>
              <a:ext uri="{FF2B5EF4-FFF2-40B4-BE49-F238E27FC236}">
                <a16:creationId xmlns:a16="http://schemas.microsoft.com/office/drawing/2014/main" id="{FDF0EA36-E491-4088-2B29-FCB3FE45F6B6}"/>
              </a:ext>
            </a:extLst>
          </p:cNvPr>
          <p:cNvSpPr>
            <a:spLocks noGrp="1"/>
          </p:cNvSpPr>
          <p:nvPr>
            <p:ph type="ctrTitle"/>
          </p:nvPr>
        </p:nvSpPr>
        <p:spPr>
          <a:xfrm>
            <a:off x="473528" y="279400"/>
            <a:ext cx="11244944" cy="2997201"/>
          </a:xfrm>
        </p:spPr>
        <p:txBody>
          <a:bodyPr>
            <a:normAutofit fontScale="90000"/>
          </a:bodyPr>
          <a:lstStyle/>
          <a:p>
            <a:pPr algn="l">
              <a:lnSpc>
                <a:spcPct val="107000"/>
              </a:lnSpc>
              <a:spcAft>
                <a:spcPts val="800"/>
              </a:spcAft>
            </a:pP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3200" b="1"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rPr>
            </a:br>
            <a:br>
              <a:rPr lang="en-IN" sz="4000" b="1" kern="100" dirty="0">
                <a:solidFill>
                  <a:schemeClr val="accent6">
                    <a:lumMod val="40000"/>
                    <a:lumOff val="60000"/>
                  </a:schemeClr>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b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TIME-SERIES ANALYSIS AND </a:t>
            </a:r>
            <a:b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b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FORECASTING</a:t>
            </a:r>
            <a:r>
              <a:rPr lang="en-IN" sz="4400" b="1" kern="1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OF MONTHLY </a:t>
            </a:r>
            <a:b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b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FEDERAL  RESERVE BOARD</a:t>
            </a:r>
            <a:r>
              <a:rPr lang="en-IN" sz="4400"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PRODUCTION </a:t>
            </a:r>
            <a:b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br>
            <a:r>
              <a:rPr lang="en-IN" sz="4400" b="1" kern="1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INDEX</a:t>
            </a:r>
            <a:endParaRPr lang="en-IN" sz="4400"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E042BB7C-DED6-7E83-3F68-F62A23279F35}"/>
              </a:ext>
            </a:extLst>
          </p:cNvPr>
          <p:cNvSpPr txBox="1"/>
          <p:nvPr/>
        </p:nvSpPr>
        <p:spPr>
          <a:xfrm>
            <a:off x="7444014" y="5482772"/>
            <a:ext cx="5181599" cy="523220"/>
          </a:xfrm>
          <a:prstGeom prst="rect">
            <a:avLst/>
          </a:prstGeom>
          <a:noFill/>
        </p:spPr>
        <p:txBody>
          <a:bodyPr wrap="square" rtlCol="0">
            <a:spAutoFit/>
          </a:bodyPr>
          <a:lstStyle/>
          <a:p>
            <a:r>
              <a:rPr lang="en-IN" sz="2800" dirty="0"/>
              <a:t>NAME- POUSHALI DUTTA</a:t>
            </a:r>
          </a:p>
        </p:txBody>
      </p:sp>
    </p:spTree>
    <p:extLst>
      <p:ext uri="{BB962C8B-B14F-4D97-AF65-F5344CB8AC3E}">
        <p14:creationId xmlns:p14="http://schemas.microsoft.com/office/powerpoint/2010/main" val="2509632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D40F-82E9-85D5-0EEA-FA8187AC169D}"/>
              </a:ext>
            </a:extLst>
          </p:cNvPr>
          <p:cNvSpPr>
            <a:spLocks noGrp="1"/>
          </p:cNvSpPr>
          <p:nvPr>
            <p:ph type="title"/>
          </p:nvPr>
        </p:nvSpPr>
        <p:spPr>
          <a:xfrm>
            <a:off x="913795" y="609601"/>
            <a:ext cx="10353761" cy="674913"/>
          </a:xfrm>
        </p:spPr>
        <p:txBody>
          <a:bodyPr/>
          <a:lstStyle/>
          <a:p>
            <a:r>
              <a:rPr lang="en-IN" u="sng" dirty="0">
                <a:solidFill>
                  <a:schemeClr val="accent5">
                    <a:lumMod val="20000"/>
                    <a:lumOff val="80000"/>
                  </a:schemeClr>
                </a:solidFill>
                <a:effectLst/>
              </a:rPr>
              <a:t>METHODOLOGY</a:t>
            </a:r>
          </a:p>
        </p:txBody>
      </p:sp>
      <p:sp>
        <p:nvSpPr>
          <p:cNvPr id="4" name="Oval 3">
            <a:extLst>
              <a:ext uri="{FF2B5EF4-FFF2-40B4-BE49-F238E27FC236}">
                <a16:creationId xmlns:a16="http://schemas.microsoft.com/office/drawing/2014/main" id="{CCA7C97A-B88D-DEF1-0955-92677EF89F9C}"/>
              </a:ext>
            </a:extLst>
          </p:cNvPr>
          <p:cNvSpPr/>
          <p:nvPr/>
        </p:nvSpPr>
        <p:spPr>
          <a:xfrm>
            <a:off x="1066798" y="2188029"/>
            <a:ext cx="1534888" cy="1458685"/>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a:p>
            <a:pPr algn="ctr"/>
            <a:endParaRPr lang="en-IN" dirty="0"/>
          </a:p>
        </p:txBody>
      </p:sp>
      <p:sp>
        <p:nvSpPr>
          <p:cNvPr id="5" name="TextBox 4">
            <a:extLst>
              <a:ext uri="{FF2B5EF4-FFF2-40B4-BE49-F238E27FC236}">
                <a16:creationId xmlns:a16="http://schemas.microsoft.com/office/drawing/2014/main" id="{C017D851-14B2-8BD0-B002-F87C5E6DA198}"/>
              </a:ext>
            </a:extLst>
          </p:cNvPr>
          <p:cNvSpPr txBox="1"/>
          <p:nvPr/>
        </p:nvSpPr>
        <p:spPr>
          <a:xfrm>
            <a:off x="1273630" y="2516125"/>
            <a:ext cx="1328056" cy="584775"/>
          </a:xfrm>
          <a:prstGeom prst="rect">
            <a:avLst/>
          </a:prstGeom>
          <a:noFill/>
        </p:spPr>
        <p:txBody>
          <a:bodyPr wrap="square" rtlCol="0">
            <a:spAutoFit/>
          </a:bodyPr>
          <a:lstStyle/>
          <a:p>
            <a:endParaRPr lang="en-IN" sz="1600" dirty="0">
              <a:solidFill>
                <a:schemeClr val="accent6">
                  <a:lumMod val="75000"/>
                </a:schemeClr>
              </a:solidFill>
            </a:endParaRPr>
          </a:p>
          <a:p>
            <a:r>
              <a:rPr lang="en-IN" sz="1600" b="1" dirty="0">
                <a:solidFill>
                  <a:schemeClr val="accent6">
                    <a:lumMod val="75000"/>
                  </a:schemeClr>
                </a:solidFill>
                <a:effectLst>
                  <a:outerShdw blurRad="38100" dist="38100" dir="2700000" algn="tl">
                    <a:srgbClr val="000000">
                      <a:alpha val="43137"/>
                    </a:srgbClr>
                  </a:outerShdw>
                </a:effectLst>
              </a:rPr>
              <a:t>Objective</a:t>
            </a:r>
          </a:p>
        </p:txBody>
      </p:sp>
      <p:sp>
        <p:nvSpPr>
          <p:cNvPr id="9" name="Content Placeholder 8">
            <a:extLst>
              <a:ext uri="{FF2B5EF4-FFF2-40B4-BE49-F238E27FC236}">
                <a16:creationId xmlns:a16="http://schemas.microsoft.com/office/drawing/2014/main" id="{D4242FBB-AF3F-6FBE-2A52-B20C710ED0A1}"/>
              </a:ext>
            </a:extLst>
          </p:cNvPr>
          <p:cNvSpPr>
            <a:spLocks noGrp="1"/>
          </p:cNvSpPr>
          <p:nvPr>
            <p:ph idx="1"/>
          </p:nvPr>
        </p:nvSpPr>
        <p:spPr/>
        <p:txBody>
          <a:bodyPr/>
          <a:lstStyle/>
          <a:p>
            <a:endParaRPr lang="en-IN" u="sng" dirty="0">
              <a:effectLst/>
            </a:endParaRPr>
          </a:p>
          <a:p>
            <a:endParaRPr lang="en-IN" dirty="0"/>
          </a:p>
          <a:p>
            <a:endParaRPr lang="en-IN" dirty="0"/>
          </a:p>
          <a:p>
            <a:endParaRPr lang="en-IN" dirty="0"/>
          </a:p>
        </p:txBody>
      </p:sp>
      <p:sp>
        <p:nvSpPr>
          <p:cNvPr id="10" name="Oval 9">
            <a:extLst>
              <a:ext uri="{FF2B5EF4-FFF2-40B4-BE49-F238E27FC236}">
                <a16:creationId xmlns:a16="http://schemas.microsoft.com/office/drawing/2014/main" id="{E07141C4-EFA6-C426-5FFA-2619FE32DF38}"/>
              </a:ext>
            </a:extLst>
          </p:cNvPr>
          <p:cNvSpPr/>
          <p:nvPr/>
        </p:nvSpPr>
        <p:spPr>
          <a:xfrm>
            <a:off x="3755571" y="2188029"/>
            <a:ext cx="1632858" cy="153488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300" b="1" dirty="0">
                <a:solidFill>
                  <a:schemeClr val="bg1"/>
                </a:solidFill>
                <a:effectLst>
                  <a:outerShdw blurRad="38100" dist="38100" dir="2700000" algn="tl">
                    <a:srgbClr val="000000">
                      <a:alpha val="43137"/>
                    </a:srgbClr>
                  </a:outerShdw>
                </a:effectLst>
              </a:rPr>
              <a:t>Data</a:t>
            </a:r>
          </a:p>
          <a:p>
            <a:pPr algn="ctr"/>
            <a:r>
              <a:rPr lang="en-IN" sz="1300" b="1" dirty="0">
                <a:solidFill>
                  <a:schemeClr val="bg1"/>
                </a:solidFill>
                <a:effectLst>
                  <a:outerShdw blurRad="38100" dist="38100" dir="2700000" algn="tl">
                    <a:srgbClr val="000000">
                      <a:alpha val="43137"/>
                    </a:srgbClr>
                  </a:outerShdw>
                </a:effectLst>
              </a:rPr>
              <a:t>Description</a:t>
            </a:r>
          </a:p>
        </p:txBody>
      </p:sp>
      <p:sp>
        <p:nvSpPr>
          <p:cNvPr id="11" name="Oval 10">
            <a:extLst>
              <a:ext uri="{FF2B5EF4-FFF2-40B4-BE49-F238E27FC236}">
                <a16:creationId xmlns:a16="http://schemas.microsoft.com/office/drawing/2014/main" id="{1B76FAFA-8BA5-F050-492E-6EFE0E62EF3A}"/>
              </a:ext>
            </a:extLst>
          </p:cNvPr>
          <p:cNvSpPr/>
          <p:nvPr/>
        </p:nvSpPr>
        <p:spPr>
          <a:xfrm>
            <a:off x="6542314" y="2188029"/>
            <a:ext cx="1568147" cy="145868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b="1" dirty="0">
                <a:solidFill>
                  <a:schemeClr val="accent6">
                    <a:lumMod val="75000"/>
                  </a:schemeClr>
                </a:solidFill>
                <a:effectLst>
                  <a:outerShdw blurRad="38100" dist="38100" dir="2700000" algn="tl">
                    <a:srgbClr val="000000">
                      <a:alpha val="43137"/>
                    </a:srgbClr>
                  </a:outerShdw>
                </a:effectLst>
              </a:rPr>
              <a:t>SARIMA</a:t>
            </a:r>
          </a:p>
          <a:p>
            <a:pPr algn="ctr"/>
            <a:r>
              <a:rPr lang="en-IN" sz="1600" b="1" dirty="0">
                <a:solidFill>
                  <a:schemeClr val="accent6">
                    <a:lumMod val="75000"/>
                  </a:schemeClr>
                </a:solidFill>
                <a:effectLst>
                  <a:outerShdw blurRad="38100" dist="38100" dir="2700000" algn="tl">
                    <a:srgbClr val="000000">
                      <a:alpha val="43137"/>
                    </a:srgbClr>
                  </a:outerShdw>
                </a:effectLst>
              </a:rPr>
              <a:t>Model</a:t>
            </a:r>
          </a:p>
        </p:txBody>
      </p:sp>
      <p:sp>
        <p:nvSpPr>
          <p:cNvPr id="12" name="Oval 11">
            <a:extLst>
              <a:ext uri="{FF2B5EF4-FFF2-40B4-BE49-F238E27FC236}">
                <a16:creationId xmlns:a16="http://schemas.microsoft.com/office/drawing/2014/main" id="{7897C112-A9EE-A2A4-9136-D2E153C89C4A}"/>
              </a:ext>
            </a:extLst>
          </p:cNvPr>
          <p:cNvSpPr/>
          <p:nvPr/>
        </p:nvSpPr>
        <p:spPr>
          <a:xfrm>
            <a:off x="9264346" y="2188028"/>
            <a:ext cx="1568147" cy="145868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b="1" dirty="0">
                <a:effectLst>
                  <a:outerShdw blurRad="38100" dist="38100" dir="2700000" algn="tl">
                    <a:srgbClr val="000000">
                      <a:alpha val="43137"/>
                    </a:srgbClr>
                  </a:outerShdw>
                </a:effectLst>
              </a:rPr>
              <a:t>Data</a:t>
            </a:r>
          </a:p>
          <a:p>
            <a:pPr algn="ctr"/>
            <a:r>
              <a:rPr lang="en-IN" sz="1600" b="1" dirty="0">
                <a:effectLst>
                  <a:outerShdw blurRad="38100" dist="38100" dir="2700000" algn="tl">
                    <a:srgbClr val="000000">
                      <a:alpha val="43137"/>
                    </a:srgbClr>
                  </a:outerShdw>
                </a:effectLst>
              </a:rPr>
              <a:t>Analysis</a:t>
            </a:r>
          </a:p>
        </p:txBody>
      </p:sp>
      <p:sp>
        <p:nvSpPr>
          <p:cNvPr id="13" name="Oval 12">
            <a:extLst>
              <a:ext uri="{FF2B5EF4-FFF2-40B4-BE49-F238E27FC236}">
                <a16:creationId xmlns:a16="http://schemas.microsoft.com/office/drawing/2014/main" id="{F90CD86C-0CE4-813E-5D5D-D25FADC8B2B8}"/>
              </a:ext>
            </a:extLst>
          </p:cNvPr>
          <p:cNvSpPr/>
          <p:nvPr/>
        </p:nvSpPr>
        <p:spPr>
          <a:xfrm>
            <a:off x="2280556" y="4110231"/>
            <a:ext cx="1632858" cy="16330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a:solidFill>
                  <a:schemeClr val="accent5">
                    <a:lumMod val="50000"/>
                  </a:schemeClr>
                </a:solidFill>
                <a:effectLst>
                  <a:outerShdw blurRad="38100" dist="38100" dir="2700000" algn="tl">
                    <a:srgbClr val="000000">
                      <a:alpha val="43137"/>
                    </a:srgbClr>
                  </a:outerShdw>
                </a:effectLst>
              </a:rPr>
              <a:t>Model</a:t>
            </a:r>
          </a:p>
          <a:p>
            <a:pPr algn="ctr"/>
            <a:r>
              <a:rPr lang="en-IN" b="1" dirty="0">
                <a:solidFill>
                  <a:schemeClr val="accent5">
                    <a:lumMod val="50000"/>
                  </a:schemeClr>
                </a:solidFill>
                <a:effectLst>
                  <a:outerShdw blurRad="38100" dist="38100" dir="2700000" algn="tl">
                    <a:srgbClr val="000000">
                      <a:alpha val="43137"/>
                    </a:srgbClr>
                  </a:outerShdw>
                </a:effectLst>
              </a:rPr>
              <a:t>Fitting</a:t>
            </a:r>
          </a:p>
        </p:txBody>
      </p:sp>
      <p:sp>
        <p:nvSpPr>
          <p:cNvPr id="14" name="Oval 13">
            <a:extLst>
              <a:ext uri="{FF2B5EF4-FFF2-40B4-BE49-F238E27FC236}">
                <a16:creationId xmlns:a16="http://schemas.microsoft.com/office/drawing/2014/main" id="{33B467AC-E7D7-A2D4-1BCC-1509243ECACB}"/>
              </a:ext>
            </a:extLst>
          </p:cNvPr>
          <p:cNvSpPr/>
          <p:nvPr/>
        </p:nvSpPr>
        <p:spPr>
          <a:xfrm>
            <a:off x="5119006" y="4110230"/>
            <a:ext cx="1632858" cy="16330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300" b="1" dirty="0">
                <a:solidFill>
                  <a:schemeClr val="accent5">
                    <a:lumMod val="50000"/>
                  </a:schemeClr>
                </a:solidFill>
                <a:effectLst>
                  <a:outerShdw blurRad="38100" dist="38100" dir="2700000" algn="tl">
                    <a:srgbClr val="000000">
                      <a:alpha val="43137"/>
                    </a:srgbClr>
                  </a:outerShdw>
                </a:effectLst>
              </a:rPr>
              <a:t>Forecasting</a:t>
            </a:r>
          </a:p>
        </p:txBody>
      </p:sp>
      <p:sp>
        <p:nvSpPr>
          <p:cNvPr id="15" name="Oval 14">
            <a:extLst>
              <a:ext uri="{FF2B5EF4-FFF2-40B4-BE49-F238E27FC236}">
                <a16:creationId xmlns:a16="http://schemas.microsoft.com/office/drawing/2014/main" id="{F3301294-85A0-7C05-BC07-7BF1EB13D005}"/>
              </a:ext>
            </a:extLst>
          </p:cNvPr>
          <p:cNvSpPr/>
          <p:nvPr/>
        </p:nvSpPr>
        <p:spPr>
          <a:xfrm>
            <a:off x="7957456" y="4110230"/>
            <a:ext cx="1632857" cy="16330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a:solidFill>
                  <a:schemeClr val="accent5">
                    <a:lumMod val="50000"/>
                  </a:schemeClr>
                </a:solidFill>
                <a:effectLst>
                  <a:outerShdw blurRad="38100" dist="38100" dir="2700000" algn="tl">
                    <a:srgbClr val="000000">
                      <a:alpha val="43137"/>
                    </a:srgbClr>
                  </a:outerShdw>
                </a:effectLst>
              </a:rPr>
              <a:t>Future</a:t>
            </a:r>
          </a:p>
          <a:p>
            <a:pPr algn="ctr"/>
            <a:r>
              <a:rPr lang="en-IN" b="1" dirty="0">
                <a:solidFill>
                  <a:schemeClr val="accent5">
                    <a:lumMod val="50000"/>
                  </a:schemeClr>
                </a:solidFill>
                <a:effectLst>
                  <a:outerShdw blurRad="38100" dist="38100" dir="2700000" algn="tl">
                    <a:srgbClr val="000000">
                      <a:alpha val="43137"/>
                    </a:srgbClr>
                  </a:outerShdw>
                </a:effectLst>
              </a:rPr>
              <a:t>Scope</a:t>
            </a:r>
          </a:p>
          <a:p>
            <a:pPr algn="ctr"/>
            <a:r>
              <a:rPr lang="en-IN" b="1" dirty="0">
                <a:solidFill>
                  <a:schemeClr val="accent5">
                    <a:lumMod val="50000"/>
                  </a:schemeClr>
                </a:solidFill>
                <a:effectLst>
                  <a:outerShdw blurRad="38100" dist="38100" dir="2700000" algn="tl">
                    <a:srgbClr val="000000">
                      <a:alpha val="43137"/>
                    </a:srgbClr>
                  </a:outerShdw>
                </a:effectLst>
              </a:rPr>
              <a:t>Of study</a:t>
            </a:r>
          </a:p>
        </p:txBody>
      </p:sp>
    </p:spTree>
    <p:extLst>
      <p:ext uri="{BB962C8B-B14F-4D97-AF65-F5344CB8AC3E}">
        <p14:creationId xmlns:p14="http://schemas.microsoft.com/office/powerpoint/2010/main" val="658956246"/>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nodePh="1">
                                  <p:stCondLst>
                                    <p:cond delay="0"/>
                                  </p:stCondLst>
                                  <p:endCondLst>
                                    <p:cond evt="begin" delay="0">
                                      <p:tn val="11"/>
                                    </p:cond>
                                  </p:end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barn(inVertical)">
                                      <p:cBhvr>
                                        <p:cTn id="13" dur="500"/>
                                        <p:tgtEl>
                                          <p:spTgt spid="9">
                                            <p:txEl>
                                              <p:pRg st="0" end="0"/>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500"/>
                                        <p:tgtEl>
                                          <p:spTgt spid="1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arn(inVertical)">
                                      <p:cBhvr>
                                        <p:cTn id="25" dur="500"/>
                                        <p:tgtEl>
                                          <p:spTgt spid="13"/>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arn(inVertical)">
                                      <p:cBhvr>
                                        <p:cTn id="28" dur="500"/>
                                        <p:tgtEl>
                                          <p:spTgt spid="1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CC59-2465-8B47-E2D0-22D5AA94DF67}"/>
              </a:ext>
            </a:extLst>
          </p:cNvPr>
          <p:cNvSpPr>
            <a:spLocks noGrp="1"/>
          </p:cNvSpPr>
          <p:nvPr>
            <p:ph type="title"/>
          </p:nvPr>
        </p:nvSpPr>
        <p:spPr>
          <a:xfrm>
            <a:off x="919119" y="359229"/>
            <a:ext cx="10353761" cy="859971"/>
          </a:xfrm>
        </p:spPr>
        <p:txBody>
          <a:bodyPr>
            <a:normAutofit/>
          </a:bodyPr>
          <a:lstStyle/>
          <a:p>
            <a:r>
              <a:rPr lang="en-IN" sz="2800" u="sng" dirty="0" err="1">
                <a:solidFill>
                  <a:schemeClr val="accent5">
                    <a:lumMod val="20000"/>
                    <a:lumOff val="80000"/>
                  </a:schemeClr>
                </a:solidFill>
              </a:rPr>
              <a:t>WhY</a:t>
            </a:r>
            <a:r>
              <a:rPr lang="en-IN" sz="2800" u="sng" dirty="0">
                <a:solidFill>
                  <a:schemeClr val="accent5">
                    <a:lumMod val="20000"/>
                    <a:lumOff val="80000"/>
                  </a:schemeClr>
                </a:solidFill>
              </a:rPr>
              <a:t> Do we need to study production index?</a:t>
            </a:r>
          </a:p>
        </p:txBody>
      </p:sp>
      <p:sp>
        <p:nvSpPr>
          <p:cNvPr id="3" name="Content Placeholder 2">
            <a:extLst>
              <a:ext uri="{FF2B5EF4-FFF2-40B4-BE49-F238E27FC236}">
                <a16:creationId xmlns:a16="http://schemas.microsoft.com/office/drawing/2014/main" id="{CA238589-1683-B9ED-4AEF-AD917570324A}"/>
              </a:ext>
            </a:extLst>
          </p:cNvPr>
          <p:cNvSpPr>
            <a:spLocks noGrp="1"/>
          </p:cNvSpPr>
          <p:nvPr>
            <p:ph idx="1"/>
          </p:nvPr>
        </p:nvSpPr>
        <p:spPr/>
        <p:txBody>
          <a:bodyPr/>
          <a:lstStyle/>
          <a:p>
            <a:pPr marL="0" indent="0">
              <a:buNone/>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FRB’s Industrial Production Index (IPI) is considered to be an important indicator that measures the original output of the manufacturing, mining, and utilities sectors. It is used by policymakers, businessmen, and investors to gauge the economic health and predict future trends. </a:t>
            </a:r>
          </a:p>
          <a:p>
            <a:endParaRPr lang="en-IN" dirty="0"/>
          </a:p>
        </p:txBody>
      </p:sp>
    </p:spTree>
    <p:extLst>
      <p:ext uri="{BB962C8B-B14F-4D97-AF65-F5344CB8AC3E}">
        <p14:creationId xmlns:p14="http://schemas.microsoft.com/office/powerpoint/2010/main" val="165091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962B-A9C9-EEE8-3DAA-40D5F5C85CE6}"/>
              </a:ext>
            </a:extLst>
          </p:cNvPr>
          <p:cNvSpPr>
            <a:spLocks noGrp="1"/>
          </p:cNvSpPr>
          <p:nvPr>
            <p:ph type="title"/>
          </p:nvPr>
        </p:nvSpPr>
        <p:spPr>
          <a:xfrm>
            <a:off x="1657049" y="620485"/>
            <a:ext cx="8912980" cy="936172"/>
          </a:xfrm>
        </p:spPr>
        <p:txBody>
          <a:bodyPr>
            <a:normAutofit/>
          </a:bodyPr>
          <a:lstStyle/>
          <a:p>
            <a:r>
              <a:rPr lang="en-IN" sz="2800" b="1" u="sng" dirty="0">
                <a:solidFill>
                  <a:schemeClr val="accent5">
                    <a:lumMod val="20000"/>
                    <a:lumOff val="80000"/>
                  </a:schemeClr>
                </a:solidFill>
              </a:rPr>
              <a:t>Objective of the study</a:t>
            </a:r>
          </a:p>
        </p:txBody>
      </p:sp>
      <p:sp>
        <p:nvSpPr>
          <p:cNvPr id="3" name="Content Placeholder 2">
            <a:extLst>
              <a:ext uri="{FF2B5EF4-FFF2-40B4-BE49-F238E27FC236}">
                <a16:creationId xmlns:a16="http://schemas.microsoft.com/office/drawing/2014/main" id="{98FA57B2-3EE7-2125-3ACA-48ADC145ECD9}"/>
              </a:ext>
            </a:extLst>
          </p:cNvPr>
          <p:cNvSpPr>
            <a:spLocks noGrp="1"/>
          </p:cNvSpPr>
          <p:nvPr>
            <p:ph idx="1"/>
          </p:nvPr>
        </p:nvSpPr>
        <p:spPr>
          <a:xfrm>
            <a:off x="913795" y="2106949"/>
            <a:ext cx="10353762" cy="4130565"/>
          </a:xfrm>
        </p:spPr>
        <p:txBody>
          <a:bodyPr>
            <a:normAutofit/>
          </a:bodyPr>
          <a:lstStyle/>
          <a:p>
            <a:pPr marL="342900" lvl="0" indent="-342900">
              <a:lnSpc>
                <a:spcPct val="107000"/>
              </a:lnSpc>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To observe the time series plot of the production data  recorded month-wise and understanding the underlying pattern, components in the data.</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To fit appropriate model to the residual series after removing the deterministic components from the data.</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To forecast production index for future timepoints and checking whether the forecasts generated are aligned with the original data i.e. checking the accuracy of the forecast values.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595276"/>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E7376-A360-801F-820F-486DF47D0D12}"/>
              </a:ext>
            </a:extLst>
          </p:cNvPr>
          <p:cNvSpPr>
            <a:spLocks noGrp="1"/>
          </p:cNvSpPr>
          <p:nvPr>
            <p:ph type="title"/>
          </p:nvPr>
        </p:nvSpPr>
        <p:spPr>
          <a:xfrm>
            <a:off x="1657047" y="576942"/>
            <a:ext cx="8815009" cy="925287"/>
          </a:xfrm>
        </p:spPr>
        <p:txBody>
          <a:bodyPr>
            <a:noAutofit/>
          </a:bodyPr>
          <a:lstStyle/>
          <a:p>
            <a:r>
              <a:rPr lang="en-IN" sz="2800" b="1" u="sng" dirty="0">
                <a:solidFill>
                  <a:schemeClr val="accent5">
                    <a:lumMod val="20000"/>
                    <a:lumOff val="80000"/>
                  </a:schemeClr>
                </a:solidFill>
              </a:rPr>
              <a:t>Data Description</a:t>
            </a:r>
          </a:p>
        </p:txBody>
      </p:sp>
      <p:sp>
        <p:nvSpPr>
          <p:cNvPr id="3" name="Content Placeholder 2">
            <a:extLst>
              <a:ext uri="{FF2B5EF4-FFF2-40B4-BE49-F238E27FC236}">
                <a16:creationId xmlns:a16="http://schemas.microsoft.com/office/drawing/2014/main" id="{2B52D143-C464-6FDD-6FF5-C799F1E73765}"/>
              </a:ext>
            </a:extLst>
          </p:cNvPr>
          <p:cNvSpPr>
            <a:spLocks noGrp="1"/>
          </p:cNvSpPr>
          <p:nvPr>
            <p:ph idx="1"/>
          </p:nvPr>
        </p:nvSpPr>
        <p:spPr>
          <a:xfrm>
            <a:off x="947058" y="2002971"/>
            <a:ext cx="10613572" cy="3886200"/>
          </a:xfrm>
        </p:spPr>
        <p:txBody>
          <a:bodyPr>
            <a:normAutofit/>
          </a:bodyPr>
          <a:lstStyle/>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 have used monthly production dataset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prodn</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over the period from 1948 to 1978 which belongs to the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astsa</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library in R. The dataset contains 372 datapoints on the production index from January 1948 to December 1978.</a:t>
            </a:r>
          </a:p>
          <a:p>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entire time series has further been divided into two separate time series. Data for the period January 1948 to September 1969 is used to carry out the following analysis, build a model and forecast future values, i.e., we treat it as our training set. Data for the remaining period, October 1969 to December 1978 is used to see how well the model based on the training set works, i.e., we use it as our testing set. </a:t>
            </a: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3512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83ED7-65C2-03A2-61D3-F59801C27B3E}"/>
              </a:ext>
            </a:extLst>
          </p:cNvPr>
          <p:cNvSpPr>
            <a:spLocks noGrp="1"/>
          </p:cNvSpPr>
          <p:nvPr>
            <p:ph type="title"/>
          </p:nvPr>
        </p:nvSpPr>
        <p:spPr>
          <a:xfrm>
            <a:off x="1548191" y="250371"/>
            <a:ext cx="8596668" cy="870857"/>
          </a:xfrm>
        </p:spPr>
        <p:txBody>
          <a:bodyPr>
            <a:noAutofit/>
          </a:bodyPr>
          <a:lstStyle/>
          <a:p>
            <a:r>
              <a:rPr lang="en-IN" sz="2800" u="sng" dirty="0">
                <a:solidFill>
                  <a:schemeClr val="accent5">
                    <a:lumMod val="20000"/>
                    <a:lumOff val="80000"/>
                  </a:schemeClr>
                </a:solidFill>
              </a:rPr>
              <a:t>Brief Description on SARIMA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C7B8E9-0189-AD7C-07E5-DABD46904F87}"/>
                  </a:ext>
                </a:extLst>
              </p:cNvPr>
              <p:cNvSpPr>
                <a:spLocks noGrp="1"/>
              </p:cNvSpPr>
              <p:nvPr>
                <p:ph idx="1"/>
              </p:nvPr>
            </p:nvSpPr>
            <p:spPr>
              <a:xfrm>
                <a:off x="655562" y="1611085"/>
                <a:ext cx="5658152" cy="4844143"/>
              </a:xfrm>
            </p:spPr>
            <p:txBody>
              <a:bodyPr>
                <a:normAutofit/>
              </a:bodyPr>
              <a:lstStyle/>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multiplicative seasonal autoregressive integrated moving average model, or SARIMA model is given by ,</a:t>
                </a:r>
              </a:p>
              <a:p>
                <a:pPr marL="228600">
                  <a:lnSpc>
                    <a:spcPct val="107000"/>
                  </a:lnSpc>
                  <a:spcAft>
                    <a:spcPts val="800"/>
                  </a:spcAft>
                  <a:buNone/>
                </a:pP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gn="ctr">
                  <a:lnSpc>
                    <a:spcPct val="107000"/>
                  </a:lnSpc>
                  <a:spcAft>
                    <a:spcPts val="800"/>
                  </a:spcAft>
                  <a:buNone/>
                </a:pP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𝚽</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  </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𝝓</m:t>
                    </m:r>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b="1" kern="100" baseline="-25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b="1" kern="100" baseline="30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  </a:t>
                </a:r>
                <a:r>
                  <a:rPr lang="en-IN" b="1" kern="1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lang="en-IN" b="1" kern="100" baseline="-25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𝜹</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𝚯</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  </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𝜽</m:t>
                    </m:r>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 </a:t>
                </a:r>
                <a:r>
                  <a:rPr lang="en-IN" b="1" kern="1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t>
                </a:r>
                <a:r>
                  <a:rPr lang="en-IN" b="1" kern="100" baseline="-25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nSpc>
                    <a:spcPct val="107000"/>
                  </a:lnSpc>
                  <a:spcAft>
                    <a:spcPts val="800"/>
                  </a:spcAft>
                  <a:buNone/>
                </a:pP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IN" kern="1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t>
                </a:r>
                <a:r>
                  <a:rPr lang="en-IN" kern="100" baseline="-250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usual Gaussian white noise process. The general model is denoted as ARIMA(</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p,d,q</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)×(P,D,Q)</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δ</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represents a deterministic trend or mean level in the time series. </a:t>
                </a:r>
              </a:p>
              <a:p>
                <a:endParaRPr lang="en-IN" dirty="0"/>
              </a:p>
            </p:txBody>
          </p:sp>
        </mc:Choice>
        <mc:Fallback xmlns="">
          <p:sp>
            <p:nvSpPr>
              <p:cNvPr id="3" name="Content Placeholder 2">
                <a:extLst>
                  <a:ext uri="{FF2B5EF4-FFF2-40B4-BE49-F238E27FC236}">
                    <a16:creationId xmlns:a16="http://schemas.microsoft.com/office/drawing/2014/main" id="{1DC7B8E9-0189-AD7C-07E5-DABD46904F87}"/>
                  </a:ext>
                </a:extLst>
              </p:cNvPr>
              <p:cNvSpPr>
                <a:spLocks noGrp="1" noRot="1" noChangeAspect="1" noMove="1" noResize="1" noEditPoints="1" noAdjustHandles="1" noChangeArrowheads="1" noChangeShapeType="1" noTextEdit="1"/>
              </p:cNvSpPr>
              <p:nvPr>
                <p:ph idx="1"/>
              </p:nvPr>
            </p:nvSpPr>
            <p:spPr>
              <a:xfrm>
                <a:off x="655562" y="1611085"/>
                <a:ext cx="5658152" cy="4844143"/>
              </a:xfrm>
              <a:blipFill>
                <a:blip r:embed="rId2"/>
                <a:stretch>
                  <a:fillRect l="-1185" t="-629" r="-14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E128D54-6111-DBAA-E634-C0ACA215B641}"/>
                  </a:ext>
                </a:extLst>
              </p:cNvPr>
              <p:cNvSpPr txBox="1">
                <a:spLocks/>
              </p:cNvSpPr>
              <p:nvPr/>
            </p:nvSpPr>
            <p:spPr>
              <a:xfrm>
                <a:off x="6455229" y="1698171"/>
                <a:ext cx="5334000" cy="431074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lnSpc>
                    <a:spcPct val="107000"/>
                  </a:lnSpc>
                  <a:spcAft>
                    <a:spcPts val="800"/>
                  </a:spcAft>
                  <a:buFont typeface="Arial" panose="020B0604020202020204" pitchFamily="34" charset="0"/>
                  <a:buNone/>
                </a:pPr>
                <a14:m>
                  <m:oMath xmlns:m="http://schemas.openxmlformats.org/officeDocument/2006/math">
                    <m:r>
                      <a:rPr lang="en-IN" i="1" kern="100" smtClean="0">
                        <a:effectLst/>
                        <a:latin typeface="Cambria Math" panose="02040503050406030204" pitchFamily="18" charset="0"/>
                        <a:ea typeface="Calibri" panose="020F0502020204030204" pitchFamily="34" charset="0"/>
                        <a:cs typeface="Times New Roman" panose="02020603050405020304" pitchFamily="18" charset="0"/>
                      </a:rPr>
                      <m:t>𝜙</m:t>
                    </m:r>
                  </m:oMath>
                </a14:m>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 = Ordinary autoregressive process of order p,</a:t>
                </a:r>
              </a:p>
              <a:p>
                <a:pPr>
                  <a:lnSpc>
                    <a:spcPct val="107000"/>
                  </a:lnSpc>
                  <a:spcAft>
                    <a:spcPts val="800"/>
                  </a:spcAft>
                  <a:buFont typeface="Arial" panose="020B0604020202020204" pitchFamily="34" charset="0"/>
                  <a:buNone/>
                </a:pPr>
                <a14:m>
                  <m:oMath xmlns:m="http://schemas.openxmlformats.org/officeDocument/2006/math">
                    <m:r>
                      <a:rPr lang="en-IN" i="1" kern="100">
                        <a:effectLst/>
                        <a:latin typeface="Cambria Math" panose="02040503050406030204" pitchFamily="18" charset="0"/>
                        <a:ea typeface="Calibri" panose="020F0502020204030204" pitchFamily="34" charset="0"/>
                        <a:cs typeface="Times New Roman" panose="02020603050405020304" pitchFamily="18" charset="0"/>
                      </a:rPr>
                      <m:t>𝜃</m:t>
                    </m:r>
                  </m:oMath>
                </a14:m>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 = Moving average components of order q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14:m>
                  <m:oMath xmlns:m="http://schemas.openxmlformats.org/officeDocument/2006/math">
                    <m:r>
                      <m:rPr>
                        <m:sty m:val="p"/>
                      </m:rPr>
                      <a:rPr lang="en-IN" kern="100">
                        <a:effectLst/>
                        <a:latin typeface="Cambria Math" panose="02040503050406030204" pitchFamily="18" charset="0"/>
                        <a:ea typeface="Calibri" panose="020F0502020204030204" pitchFamily="34" charset="0"/>
                        <a:cs typeface="Times New Roman" panose="02020603050405020304" pitchFamily="18" charset="0"/>
                      </a:rPr>
                      <m:t>Φ</m:t>
                    </m:r>
                  </m:oMath>
                </a14:m>
                <a:r>
                  <a:rPr lang="en-IN"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P</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a:t>
                </a:r>
                <a:r>
                  <a:rPr lang="en-IN" kern="100" baseline="3000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Seasonal autoregressive process of order P</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14:m>
                  <m:oMath xmlns:m="http://schemas.openxmlformats.org/officeDocument/2006/math">
                    <m:r>
                      <m:rPr>
                        <m:sty m:val="p"/>
                      </m:rPr>
                      <a:rPr lang="en-IN" kern="100">
                        <a:effectLst/>
                        <a:latin typeface="Cambria Math" panose="02040503050406030204" pitchFamily="18" charset="0"/>
                        <a:ea typeface="Calibri" panose="020F0502020204030204" pitchFamily="34" charset="0"/>
                        <a:cs typeface="Times New Roman" panose="02020603050405020304" pitchFamily="18" charset="0"/>
                      </a:rPr>
                      <m:t>Θ</m:t>
                    </m:r>
                  </m:oMath>
                </a14:m>
                <a:r>
                  <a:rPr lang="en-IN" kern="100" baseline="-25000" dirty="0">
                    <a:effectLst/>
                    <a:latin typeface="Times New Roman" panose="02020603050405020304" pitchFamily="18" charset="0"/>
                    <a:ea typeface="Times New Roman" panose="02020603050405020304" pitchFamily="18" charset="0"/>
                    <a:cs typeface="Times New Roman" panose="02020603050405020304" pitchFamily="18" charset="0"/>
                  </a:rPr>
                  <a:t>Q</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a:t>
                </a:r>
                <a:r>
                  <a:rPr lang="en-IN" kern="100" baseline="3000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Moving average components of order Q</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14:m>
                  <m:oMath xmlns:m="http://schemas.openxmlformats.org/officeDocument/2006/math">
                    <m:r>
                      <a:rPr lang="en-IN" i="1" kern="100">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kern="100" baseline="30000" dirty="0">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=(1- B)</a:t>
                </a:r>
                <a:r>
                  <a:rPr lang="en-IN" kern="100" baseline="30000" dirty="0">
                    <a:effectLst/>
                    <a:latin typeface="Times New Roman" panose="02020603050405020304" pitchFamily="18" charset="0"/>
                    <a:ea typeface="Calibri" panose="020F0502020204030204" pitchFamily="34" charset="0"/>
                    <a:cs typeface="Times New Roman" panose="02020603050405020304" pitchFamily="18" charset="0"/>
                  </a:rPr>
                  <a:t>d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Ordinary difference component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14:m>
                  <m:oMath xmlns:m="http://schemas.openxmlformats.org/officeDocument/2006/math">
                    <m:r>
                      <a:rPr lang="en-IN" i="1" kern="100">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kern="1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kern="100" baseline="30000" dirty="0" err="1">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=(1- B</a:t>
                </a:r>
                <a:r>
                  <a:rPr lang="en-IN" kern="100" baseline="3000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kern="100" baseline="30000" dirty="0">
                    <a:effectLst/>
                    <a:latin typeface="Times New Roman" panose="02020603050405020304" pitchFamily="18" charset="0"/>
                    <a:ea typeface="Calibri" panose="020F0502020204030204" pitchFamily="34" charset="0"/>
                    <a:cs typeface="Times New Roman" panose="02020603050405020304" pitchFamily="18" charset="0"/>
                  </a:rPr>
                  <a:t>D</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Seasonal differencing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IN" kern="100" baseline="-25000" dirty="0" err="1">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Value of the process at timepoint t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Font typeface="Arial" panose="020B0604020202020204" pitchFamily="34" charset="0"/>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 backshift operator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mc:Choice>
        <mc:Fallback xmlns="">
          <p:sp>
            <p:nvSpPr>
              <p:cNvPr id="5" name="Content Placeholder 2">
                <a:extLst>
                  <a:ext uri="{FF2B5EF4-FFF2-40B4-BE49-F238E27FC236}">
                    <a16:creationId xmlns:a16="http://schemas.microsoft.com/office/drawing/2014/main" id="{6E128D54-6111-DBAA-E634-C0ACA215B641}"/>
                  </a:ext>
                </a:extLst>
              </p:cNvPr>
              <p:cNvSpPr txBox="1">
                <a:spLocks noRot="1" noChangeAspect="1" noMove="1" noResize="1" noEditPoints="1" noAdjustHandles="1" noChangeArrowheads="1" noChangeShapeType="1" noTextEdit="1"/>
              </p:cNvSpPr>
              <p:nvPr/>
            </p:nvSpPr>
            <p:spPr>
              <a:xfrm>
                <a:off x="6455229" y="1698171"/>
                <a:ext cx="5334000" cy="4310743"/>
              </a:xfrm>
              <a:prstGeom prst="rect">
                <a:avLst/>
              </a:prstGeom>
              <a:blipFill>
                <a:blip r:embed="rId3"/>
                <a:stretch>
                  <a:fillRect l="-1143" t="-707"/>
                </a:stretch>
              </a:blipFill>
            </p:spPr>
            <p:txBody>
              <a:bodyPr/>
              <a:lstStyle/>
              <a:p>
                <a:r>
                  <a:rPr lang="en-IN">
                    <a:noFill/>
                  </a:rPr>
                  <a:t> </a:t>
                </a:r>
              </a:p>
            </p:txBody>
          </p:sp>
        </mc:Fallback>
      </mc:AlternateContent>
    </p:spTree>
    <p:extLst>
      <p:ext uri="{BB962C8B-B14F-4D97-AF65-F5344CB8AC3E}">
        <p14:creationId xmlns:p14="http://schemas.microsoft.com/office/powerpoint/2010/main" val="82728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3526B-B108-B0AC-9EB5-4957FDD04EC8}"/>
              </a:ext>
            </a:extLst>
          </p:cNvPr>
          <p:cNvSpPr>
            <a:spLocks noGrp="1"/>
          </p:cNvSpPr>
          <p:nvPr>
            <p:ph type="title"/>
          </p:nvPr>
        </p:nvSpPr>
        <p:spPr>
          <a:xfrm>
            <a:off x="1449323" y="533400"/>
            <a:ext cx="8596668" cy="707780"/>
          </a:xfrm>
        </p:spPr>
        <p:txBody>
          <a:bodyPr>
            <a:normAutofit/>
          </a:bodyPr>
          <a:lstStyle/>
          <a:p>
            <a:r>
              <a:rPr lang="en-IN" sz="2800" u="sng" dirty="0">
                <a:solidFill>
                  <a:schemeClr val="accent5">
                    <a:lumMod val="20000"/>
                    <a:lumOff val="80000"/>
                  </a:schemeClr>
                </a:solidFill>
              </a:rPr>
              <a:t>ADF Test</a:t>
            </a:r>
          </a:p>
        </p:txBody>
      </p:sp>
      <p:sp>
        <p:nvSpPr>
          <p:cNvPr id="3" name="Content Placeholder 2">
            <a:extLst>
              <a:ext uri="{FF2B5EF4-FFF2-40B4-BE49-F238E27FC236}">
                <a16:creationId xmlns:a16="http://schemas.microsoft.com/office/drawing/2014/main" id="{FE1E5662-3D58-C39E-E7D4-46D86E16701B}"/>
              </a:ext>
            </a:extLst>
          </p:cNvPr>
          <p:cNvSpPr>
            <a:spLocks noGrp="1"/>
          </p:cNvSpPr>
          <p:nvPr>
            <p:ph idx="1"/>
          </p:nvPr>
        </p:nvSpPr>
        <p:spPr>
          <a:xfrm>
            <a:off x="1034142" y="1502437"/>
            <a:ext cx="10101943" cy="4735077"/>
          </a:xfrm>
        </p:spPr>
        <p:txBody>
          <a:bodyPr>
            <a:normAutofit/>
          </a:bodyPr>
          <a:lstStyle/>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check the stationarity, we will use ADF test. The test involves estimating a regression model of the form: </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gn="ctr">
              <a:lnSpc>
                <a:spcPct val="107000"/>
              </a:lnSpc>
              <a:spcAft>
                <a:spcPts val="800"/>
              </a:spcAft>
              <a:buNone/>
            </a:pP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Δx</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α + βt + γx</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t-1</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θ</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Δx</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t-1</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θ</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Δx</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 +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θ</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Δx</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Δx</a:t>
            </a:r>
            <a:r>
              <a:rPr lang="en-IN"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the first difference of the time series,</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 = a linear trend term,</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t-1</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the lagged value of the time series, </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θ</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θ</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θ</a:t>
            </a:r>
            <a:r>
              <a:rPr lang="en-IN"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are the AR coefficients. </a:t>
            </a:r>
          </a:p>
          <a:p>
            <a:pPr marL="0" indent="0">
              <a:lnSpc>
                <a:spcPct val="107000"/>
              </a:lnSpc>
              <a:spcAft>
                <a:spcPts val="800"/>
              </a:spcAft>
              <a:buNone/>
            </a:pPr>
            <a:r>
              <a:rPr lang="en-IN" dirty="0">
                <a:solidFill>
                  <a:schemeClr val="tx1"/>
                </a:solidFill>
                <a:effectLst/>
                <a:latin typeface="Times New Roman" panose="02020603050405020304" pitchFamily="18" charset="0"/>
                <a:ea typeface="Calibri" panose="020F0502020204030204" pitchFamily="34" charset="0"/>
              </a:rPr>
              <a:t>Null hypothesis of the testing claims presence of a unit root in the time series, indicating that the time series is nonstationary. The alternative hypothesis says that series is stationary. </a:t>
            </a: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97925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FE02-C456-7F47-18DA-CFA0F3C47992}"/>
              </a:ext>
            </a:extLst>
          </p:cNvPr>
          <p:cNvSpPr>
            <a:spLocks noGrp="1"/>
          </p:cNvSpPr>
          <p:nvPr>
            <p:ph type="title"/>
          </p:nvPr>
        </p:nvSpPr>
        <p:spPr>
          <a:xfrm>
            <a:off x="1482877" y="283030"/>
            <a:ext cx="8596668" cy="827314"/>
          </a:xfrm>
        </p:spPr>
        <p:txBody>
          <a:bodyPr>
            <a:normAutofit/>
          </a:bodyPr>
          <a:lstStyle/>
          <a:p>
            <a:r>
              <a:rPr lang="en-IN" sz="2800" u="sng" dirty="0">
                <a:solidFill>
                  <a:schemeClr val="accent5">
                    <a:lumMod val="20000"/>
                    <a:lumOff val="80000"/>
                  </a:schemeClr>
                </a:solidFill>
              </a:rPr>
              <a:t>Ljung-Box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D54611-381D-2A23-2E1C-86D5C0E1803A}"/>
                  </a:ext>
                </a:extLst>
              </p:cNvPr>
              <p:cNvSpPr>
                <a:spLocks noGrp="1"/>
              </p:cNvSpPr>
              <p:nvPr>
                <p:ph idx="1"/>
              </p:nvPr>
            </p:nvSpPr>
            <p:spPr>
              <a:xfrm>
                <a:off x="1023256" y="1469571"/>
                <a:ext cx="10243457" cy="4778829"/>
              </a:xfrm>
            </p:spPr>
            <p:txBody>
              <a:bodyPr>
                <a:normAutofit fontScale="92500" lnSpcReduction="10000"/>
              </a:bodyPr>
              <a:lstStyle/>
              <a:p>
                <a:pPr marL="228600">
                  <a:lnSpc>
                    <a:spcPct val="107000"/>
                  </a:lnSpc>
                  <a:spcAft>
                    <a:spcPts val="800"/>
                  </a:spcAft>
                  <a:buNone/>
                </a:pP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Ljung–Box test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a type of statistical test for checking whether series is random or they are correlated. Ljung-Box test is widely used in econometrics and time series data.</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Here we are to test,</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gn="ctr">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series is random         vs.            H</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series is not random</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test statistic is given by,</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gn="ctr">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 = n (n+2) </a:t>
                </a:r>
                <a14:m>
                  <m:oMath xmlns:m="http://schemas.openxmlformats.org/officeDocument/2006/math">
                    <m:nary>
                      <m:naryPr>
                        <m:chr m:val="∑"/>
                        <m:limLoc m:val="undOvr"/>
                        <m:ctrlP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ℎ</m:t>
                        </m:r>
                      </m:sup>
                      <m:e>
                        <m:f>
                          <m:fPr>
                            <m:ctrlP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num>
                          <m:den>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den>
                        </m:f>
                      </m:e>
                    </m:nary>
                  </m:oMath>
                </a14:m>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Where n = the sample size,</a:t>
                </a:r>
              </a:p>
              <a:p>
                <a:r>
                  <a:rPr lang="en-IN" dirty="0">
                    <a:solidFill>
                      <a:schemeClr val="tx1"/>
                    </a:solidFill>
                    <a:latin typeface="Times New Roman" panose="02020603050405020304" pitchFamily="18" charset="0"/>
                    <a:cs typeface="Times New Roman" panose="02020603050405020304" pitchFamily="18" charset="0"/>
                  </a:rPr>
                  <a:t> r = the sample autocorrelation at lag k and </a:t>
                </a:r>
              </a:p>
              <a:p>
                <a:r>
                  <a:rPr lang="en-IN" dirty="0">
                    <a:solidFill>
                      <a:schemeClr val="tx1"/>
                    </a:solidFill>
                    <a:latin typeface="Times New Roman" panose="02020603050405020304" pitchFamily="18" charset="0"/>
                    <a:cs typeface="Times New Roman" panose="02020603050405020304" pitchFamily="18" charset="0"/>
                  </a:rPr>
                  <a:t>h = the number of lags being tested. </a:t>
                </a:r>
              </a:p>
              <a:p>
                <a:r>
                  <a:rPr lang="en-IN" dirty="0">
                    <a:solidFill>
                      <a:schemeClr val="tx1"/>
                    </a:solidFill>
                    <a:latin typeface="Times New Roman" panose="02020603050405020304" pitchFamily="18" charset="0"/>
                    <a:cs typeface="Times New Roman" panose="02020603050405020304" pitchFamily="18" charset="0"/>
                  </a:rPr>
                  <a:t>Under H</a:t>
                </a:r>
                <a:r>
                  <a:rPr lang="en-IN" baseline="-25000" dirty="0">
                    <a:solidFill>
                      <a:schemeClr val="tx1"/>
                    </a:solidFill>
                    <a:latin typeface="Times New Roman" panose="02020603050405020304" pitchFamily="18" charset="0"/>
                    <a:cs typeface="Times New Roman" panose="02020603050405020304" pitchFamily="18" charset="0"/>
                  </a:rPr>
                  <a:t>0</a:t>
                </a:r>
                <a:r>
                  <a:rPr lang="en-IN" dirty="0">
                    <a:solidFill>
                      <a:schemeClr val="tx1"/>
                    </a:solidFill>
                    <a:latin typeface="Times New Roman" panose="02020603050405020304" pitchFamily="18" charset="0"/>
                    <a:cs typeface="Times New Roman" panose="02020603050405020304" pitchFamily="18" charset="0"/>
                  </a:rPr>
                  <a:t> the statistic Q asymptotically follows Chi-sq. distribution with degrees of freedom h.</a:t>
                </a:r>
              </a:p>
              <a:p>
                <a:endParaRPr lang="en-IN" dirty="0"/>
              </a:p>
            </p:txBody>
          </p:sp>
        </mc:Choice>
        <mc:Fallback xmlns="">
          <p:sp>
            <p:nvSpPr>
              <p:cNvPr id="3" name="Content Placeholder 2">
                <a:extLst>
                  <a:ext uri="{FF2B5EF4-FFF2-40B4-BE49-F238E27FC236}">
                    <a16:creationId xmlns:a16="http://schemas.microsoft.com/office/drawing/2014/main" id="{15D54611-381D-2A23-2E1C-86D5C0E1803A}"/>
                  </a:ext>
                </a:extLst>
              </p:cNvPr>
              <p:cNvSpPr>
                <a:spLocks noGrp="1" noRot="1" noChangeAspect="1" noMove="1" noResize="1" noEditPoints="1" noAdjustHandles="1" noChangeArrowheads="1" noChangeShapeType="1" noTextEdit="1"/>
              </p:cNvSpPr>
              <p:nvPr>
                <p:ph idx="1"/>
              </p:nvPr>
            </p:nvSpPr>
            <p:spPr>
              <a:xfrm>
                <a:off x="1023256" y="1469571"/>
                <a:ext cx="10243457" cy="4778829"/>
              </a:xfrm>
              <a:blipFill>
                <a:blip r:embed="rId2"/>
                <a:stretch>
                  <a:fillRect l="-595" t="-765" r="-238" b="-1148"/>
                </a:stretch>
              </a:blipFill>
            </p:spPr>
            <p:txBody>
              <a:bodyPr/>
              <a:lstStyle/>
              <a:p>
                <a:r>
                  <a:rPr lang="en-IN">
                    <a:noFill/>
                  </a:rPr>
                  <a:t> </a:t>
                </a:r>
              </a:p>
            </p:txBody>
          </p:sp>
        </mc:Fallback>
      </mc:AlternateContent>
    </p:spTree>
    <p:extLst>
      <p:ext uri="{BB962C8B-B14F-4D97-AF65-F5344CB8AC3E}">
        <p14:creationId xmlns:p14="http://schemas.microsoft.com/office/powerpoint/2010/main" val="195393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7246-5279-7DFD-DFDC-BBA30D16ACDC}"/>
              </a:ext>
            </a:extLst>
          </p:cNvPr>
          <p:cNvSpPr>
            <a:spLocks noGrp="1"/>
          </p:cNvSpPr>
          <p:nvPr>
            <p:ph type="title"/>
          </p:nvPr>
        </p:nvSpPr>
        <p:spPr>
          <a:xfrm>
            <a:off x="1635276" y="685801"/>
            <a:ext cx="8596668" cy="391885"/>
          </a:xfrm>
        </p:spPr>
        <p:txBody>
          <a:bodyPr>
            <a:noAutofit/>
          </a:bodyPr>
          <a:lstStyle/>
          <a:p>
            <a:r>
              <a:rPr lang="en-IN" sz="2800" u="sng" dirty="0">
                <a:solidFill>
                  <a:schemeClr val="accent5">
                    <a:lumMod val="20000"/>
                    <a:lumOff val="80000"/>
                  </a:schemeClr>
                </a:solidFill>
              </a:rPr>
              <a:t>Analysis of the data</a:t>
            </a:r>
          </a:p>
        </p:txBody>
      </p:sp>
      <p:sp>
        <p:nvSpPr>
          <p:cNvPr id="3" name="Content Placeholder 2">
            <a:extLst>
              <a:ext uri="{FF2B5EF4-FFF2-40B4-BE49-F238E27FC236}">
                <a16:creationId xmlns:a16="http://schemas.microsoft.com/office/drawing/2014/main" id="{5054EF0F-BE6B-844C-101E-7DBF4B7663CD}"/>
              </a:ext>
            </a:extLst>
          </p:cNvPr>
          <p:cNvSpPr>
            <a:spLocks noGrp="1"/>
          </p:cNvSpPr>
          <p:nvPr>
            <p:ph idx="1"/>
          </p:nvPr>
        </p:nvSpPr>
        <p:spPr>
          <a:xfrm>
            <a:off x="480265" y="1458686"/>
            <a:ext cx="5693228" cy="4953000"/>
          </a:xfrm>
        </p:spPr>
        <p:txBody>
          <a:bodyPr/>
          <a:lstStyle/>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70% of the dataset has been taken for analysis purpose and remaining 30% of data is kept for testing purpose. To analyse the data, I first plot the data to have an idea about the deterministic components present in the dataset.</a:t>
            </a:r>
          </a:p>
          <a:p>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6" name="Content Placeholder 5">
            <a:extLst>
              <a:ext uri="{FF2B5EF4-FFF2-40B4-BE49-F238E27FC236}">
                <a16:creationId xmlns:a16="http://schemas.microsoft.com/office/drawing/2014/main" id="{BB0DDEC8-AFF7-B77B-790F-FD33F92AD340}"/>
              </a:ext>
            </a:extLst>
          </p:cNvPr>
          <p:cNvPicPr>
            <a:picLocks noChangeAspect="1"/>
          </p:cNvPicPr>
          <p:nvPr/>
        </p:nvPicPr>
        <p:blipFill>
          <a:blip r:embed="rId2"/>
          <a:stretch>
            <a:fillRect/>
          </a:stretch>
        </p:blipFill>
        <p:spPr>
          <a:xfrm>
            <a:off x="478972" y="3537857"/>
            <a:ext cx="5539537" cy="2764971"/>
          </a:xfrm>
          <a:prstGeom prst="rect">
            <a:avLst/>
          </a:prstGeom>
        </p:spPr>
      </p:pic>
      <p:sp>
        <p:nvSpPr>
          <p:cNvPr id="4" name="Content Placeholder 2">
            <a:extLst>
              <a:ext uri="{FF2B5EF4-FFF2-40B4-BE49-F238E27FC236}">
                <a16:creationId xmlns:a16="http://schemas.microsoft.com/office/drawing/2014/main" id="{D13D7560-45BC-76B8-06BB-2DE093EB2ACF}"/>
              </a:ext>
            </a:extLst>
          </p:cNvPr>
          <p:cNvSpPr txBox="1">
            <a:spLocks/>
          </p:cNvSpPr>
          <p:nvPr/>
        </p:nvSpPr>
        <p:spPr>
          <a:xfrm>
            <a:off x="6531429" y="1349829"/>
            <a:ext cx="5540142" cy="48223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lnSpc>
                <a:spcPct val="107000"/>
              </a:lnSpc>
              <a:spcAft>
                <a:spcPts val="800"/>
              </a:spcAft>
              <a:buFont typeface="Arial" panose="020B0604020202020204" pitchFamily="34" charset="0"/>
              <a:buNone/>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Arial" panose="020B0604020202020204" pitchFamily="34" charset="0"/>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From the above plot we note the following observations</a:t>
            </a:r>
          </a:p>
          <a:p>
            <a:pPr marL="342900" indent="-342900">
              <a:lnSpc>
                <a:spcPct val="107000"/>
              </a:lnSpc>
              <a:buFont typeface="+mj-lt"/>
              <a:buAutoNum type="romanLcPeriod"/>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There is an increasing upward trend.</a:t>
            </a:r>
          </a:p>
          <a:p>
            <a:pPr marL="342900" indent="-342900">
              <a:lnSpc>
                <a:spcPct val="107000"/>
              </a:lnSpc>
              <a:buFont typeface="+mj-lt"/>
              <a:buAutoNum type="romanLcPeriod"/>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Seasonal variation appears since it is recorded month-wise.</a:t>
            </a:r>
          </a:p>
          <a:p>
            <a:pPr marL="342900" indent="-342900">
              <a:lnSpc>
                <a:spcPct val="107000"/>
              </a:lnSpc>
              <a:spcAft>
                <a:spcPts val="800"/>
              </a:spcAft>
              <a:buFont typeface="+mj-lt"/>
              <a:buAutoNum type="romanLcPeriod"/>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No cycle of period more than a year is present indicating that there is no cyclical variation in the data.</a:t>
            </a:r>
          </a:p>
          <a:p>
            <a:endParaRPr lang="en-IN" dirty="0"/>
          </a:p>
        </p:txBody>
      </p:sp>
    </p:spTree>
    <p:extLst>
      <p:ext uri="{BB962C8B-B14F-4D97-AF65-F5344CB8AC3E}">
        <p14:creationId xmlns:p14="http://schemas.microsoft.com/office/powerpoint/2010/main" val="405010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p:cTn id="23"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25" dur="500"/>
                                        <p:tgtEl>
                                          <p:spTgt spid="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 calcmode="lin" valueType="num">
                                      <p:cBhvr>
                                        <p:cTn id="30"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 calcmode="lin" valueType="num">
                                      <p:cBhvr>
                                        <p:cTn id="37"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38"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9" dur="500"/>
                                        <p:tgtEl>
                                          <p:spTgt spid="4">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4">
                                            <p:txEl>
                                              <p:pRg st="4" end="4"/>
                                            </p:txEl>
                                          </p:spTgt>
                                        </p:tgtEl>
                                        <p:attrNameLst>
                                          <p:attrName>style.visibility</p:attrName>
                                        </p:attrNameLst>
                                      </p:cBhvr>
                                      <p:to>
                                        <p:strVal val="visible"/>
                                      </p:to>
                                    </p:set>
                                    <p:anim calcmode="lin" valueType="num">
                                      <p:cBhvr>
                                        <p:cTn id="44"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832-8E8A-4E3A-EEF4-4A0B0BD5DE4B}"/>
              </a:ext>
            </a:extLst>
          </p:cNvPr>
          <p:cNvSpPr>
            <a:spLocks noGrp="1"/>
          </p:cNvSpPr>
          <p:nvPr>
            <p:ph type="title"/>
          </p:nvPr>
        </p:nvSpPr>
        <p:spPr>
          <a:xfrm>
            <a:off x="838201" y="511629"/>
            <a:ext cx="10167256" cy="729342"/>
          </a:xfrm>
        </p:spPr>
        <p:txBody>
          <a:bodyPr>
            <a:normAutofit/>
          </a:bodyPr>
          <a:lstStyle/>
          <a:p>
            <a:r>
              <a:rPr lang="en-IN" sz="2800" u="sng" dirty="0">
                <a:solidFill>
                  <a:schemeClr val="accent5">
                    <a:lumMod val="20000"/>
                    <a:lumOff val="80000"/>
                  </a:schemeClr>
                </a:solidFill>
              </a:rPr>
              <a:t>Checking for stationarity of the series</a:t>
            </a:r>
          </a:p>
        </p:txBody>
      </p:sp>
      <p:sp>
        <p:nvSpPr>
          <p:cNvPr id="3" name="Content Placeholder 2">
            <a:extLst>
              <a:ext uri="{FF2B5EF4-FFF2-40B4-BE49-F238E27FC236}">
                <a16:creationId xmlns:a16="http://schemas.microsoft.com/office/drawing/2014/main" id="{84AB90B6-5576-42D5-7575-83EE4E57EDA2}"/>
              </a:ext>
            </a:extLst>
          </p:cNvPr>
          <p:cNvSpPr>
            <a:spLocks noGrp="1"/>
          </p:cNvSpPr>
          <p:nvPr>
            <p:ph idx="1"/>
          </p:nvPr>
        </p:nvSpPr>
        <p:spPr>
          <a:xfrm>
            <a:off x="1153886" y="1404257"/>
            <a:ext cx="10091056" cy="4637105"/>
          </a:xfrm>
        </p:spPr>
        <p:txBody>
          <a:bodyPr>
            <a:normAutofit lnSpcReduction="10000"/>
          </a:bodyPr>
          <a:lstStyle/>
          <a:p>
            <a:pPr>
              <a:lnSpc>
                <a:spcPct val="107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Also, I will apply Augmented Dickey-Fuller Test</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of the data to check whether it is stationary or not.</a:t>
            </a:r>
          </a:p>
          <a:p>
            <a:pPr marL="228600">
              <a:lnSpc>
                <a:spcPct val="107000"/>
              </a:lnSpc>
              <a:spcAft>
                <a:spcPts val="800"/>
              </a:spcAft>
            </a:pP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nSpc>
                <a:spcPct val="107000"/>
              </a:lnSpc>
              <a:spcAft>
                <a:spcPts val="800"/>
              </a:spcAft>
            </a:pP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nSpc>
                <a:spcPct val="107000"/>
              </a:lnSpc>
              <a:spcAft>
                <a:spcPts val="800"/>
              </a:spcAft>
            </a:pPr>
            <a:endPar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28600">
              <a:lnSpc>
                <a:spcPct val="107000"/>
              </a:lnSpc>
              <a:spcAft>
                <a:spcPts val="800"/>
              </a:spcAft>
            </a:pPr>
            <a:endParaRPr lang="en-IN" dirty="0">
              <a:solidFill>
                <a:schemeClr val="tx1"/>
              </a:solidFill>
              <a:effectLst/>
              <a:latin typeface="Times New Roman" panose="02020603050405020304" pitchFamily="18" charset="0"/>
              <a:ea typeface="Calibri" panose="020F0502020204030204" pitchFamily="34" charset="0"/>
            </a:endParaRPr>
          </a:p>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Here, we can observe that the p-value is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0.9523</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,which is greater than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0.05</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l.o.s</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From the above result we can conclude that we will accept H</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which is indicating the data is not stationary.</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graphicFrame>
        <p:nvGraphicFramePr>
          <p:cNvPr id="16" name="Table 15">
            <a:extLst>
              <a:ext uri="{FF2B5EF4-FFF2-40B4-BE49-F238E27FC236}">
                <a16:creationId xmlns:a16="http://schemas.microsoft.com/office/drawing/2014/main" id="{31672701-5225-7C7C-A43D-C5C8A1D8288A}"/>
              </a:ext>
            </a:extLst>
          </p:cNvPr>
          <p:cNvGraphicFramePr>
            <a:graphicFrameLocks noGrp="1"/>
          </p:cNvGraphicFramePr>
          <p:nvPr>
            <p:extLst>
              <p:ext uri="{D42A27DB-BD31-4B8C-83A1-F6EECF244321}">
                <p14:modId xmlns:p14="http://schemas.microsoft.com/office/powerpoint/2010/main" val="1293082999"/>
              </p:ext>
            </p:extLst>
          </p:nvPr>
        </p:nvGraphicFramePr>
        <p:xfrm>
          <a:off x="2438401" y="2944480"/>
          <a:ext cx="7097484" cy="1556657"/>
        </p:xfrm>
        <a:graphic>
          <a:graphicData uri="http://schemas.openxmlformats.org/drawingml/2006/table">
            <a:tbl>
              <a:tblPr>
                <a:tableStyleId>{5C22544A-7EE6-4342-B048-85BDC9FD1C3A}</a:tableStyleId>
              </a:tblPr>
              <a:tblGrid>
                <a:gridCol w="7097484">
                  <a:extLst>
                    <a:ext uri="{9D8B030D-6E8A-4147-A177-3AD203B41FA5}">
                      <a16:colId xmlns:a16="http://schemas.microsoft.com/office/drawing/2014/main" val="561949923"/>
                    </a:ext>
                  </a:extLst>
                </a:gridCol>
              </a:tblGrid>
              <a:tr h="1556657">
                <a:tc>
                  <a:txBody>
                    <a:bodyPr/>
                    <a:lstStyle/>
                    <a:p>
                      <a:pPr marL="228600" algn="l">
                        <a:lnSpc>
                          <a:spcPct val="107000"/>
                        </a:lnSpc>
                        <a:spcAft>
                          <a:spcPts val="800"/>
                        </a:spcAft>
                        <a:buNone/>
                      </a:pPr>
                      <a:r>
                        <a:rPr lang="en-IN" sz="1800" kern="100" dirty="0">
                          <a:effectLst/>
                        </a:rPr>
                        <a:t>Augmented Dickey-Fuller Test</a:t>
                      </a:r>
                    </a:p>
                    <a:p>
                      <a:pPr marL="228600" algn="l">
                        <a:lnSpc>
                          <a:spcPct val="107000"/>
                        </a:lnSpc>
                        <a:spcAft>
                          <a:spcPts val="800"/>
                        </a:spcAft>
                        <a:buNone/>
                      </a:pPr>
                      <a:r>
                        <a:rPr lang="en-IN" sz="1800" kern="100" dirty="0">
                          <a:effectLst/>
                        </a:rPr>
                        <a:t>data:  data</a:t>
                      </a:r>
                    </a:p>
                    <a:p>
                      <a:pPr marL="228600" algn="l">
                        <a:lnSpc>
                          <a:spcPct val="107000"/>
                        </a:lnSpc>
                        <a:spcAft>
                          <a:spcPts val="800"/>
                        </a:spcAft>
                        <a:buNone/>
                      </a:pPr>
                      <a:r>
                        <a:rPr lang="en-IN" sz="1800" kern="100" dirty="0">
                          <a:effectLst/>
                        </a:rPr>
                        <a:t>Dickey-Fuller = -0.89485, Lag order = 6, p-value = 0.9523</a:t>
                      </a:r>
                    </a:p>
                    <a:p>
                      <a:pPr marL="228600" marR="0" lvl="0" indent="0" algn="l" defTabSz="457200" rtl="0" eaLnBrk="1" fontAlgn="auto" latinLnBrk="0" hangingPunct="1">
                        <a:lnSpc>
                          <a:spcPct val="107000"/>
                        </a:lnSpc>
                        <a:spcBef>
                          <a:spcPts val="0"/>
                        </a:spcBef>
                        <a:spcAft>
                          <a:spcPts val="800"/>
                        </a:spcAft>
                        <a:buClrTx/>
                        <a:buSzTx/>
                        <a:buFontTx/>
                        <a:buNone/>
                        <a:tabLst/>
                        <a:defRPr/>
                      </a:pPr>
                      <a:r>
                        <a:rPr lang="en-IN" b="0" dirty="0">
                          <a:solidFill>
                            <a:schemeClr val="bg1"/>
                          </a:solidFill>
                          <a:effectLst/>
                          <a:latin typeface="+mn-lt"/>
                          <a:ea typeface="Calibri" panose="020F0502020204030204" pitchFamily="34" charset="0"/>
                        </a:rPr>
                        <a:t>Alternative hypothesis: stationary</a:t>
                      </a:r>
                      <a:endParaRPr lang="en-IN" b="0" kern="100" dirty="0">
                        <a:solidFill>
                          <a:schemeClr val="bg1"/>
                        </a:solidFill>
                        <a:effectLst/>
                        <a:latin typeface="+mn-lt"/>
                        <a:ea typeface="Calibri" panose="020F0502020204030204" pitchFamily="34" charset="0"/>
                        <a:cs typeface="Times New Roman" panose="02020603050405020304" pitchFamily="18" charset="0"/>
                      </a:endParaRPr>
                    </a:p>
                  </a:txBody>
                  <a:tcPr marL="114300" marR="114300" marT="0" marB="0"/>
                </a:tc>
                <a:extLst>
                  <a:ext uri="{0D108BD9-81ED-4DB2-BD59-A6C34878D82A}">
                    <a16:rowId xmlns:a16="http://schemas.microsoft.com/office/drawing/2014/main" val="581785849"/>
                  </a:ext>
                </a:extLst>
              </a:tr>
            </a:tbl>
          </a:graphicData>
        </a:graphic>
      </p:graphicFrame>
    </p:spTree>
    <p:extLst>
      <p:ext uri="{BB962C8B-B14F-4D97-AF65-F5344CB8AC3E}">
        <p14:creationId xmlns:p14="http://schemas.microsoft.com/office/powerpoint/2010/main" val="29069244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C2303-AA7D-79E2-3693-5EC2C9C8D4CC}"/>
              </a:ext>
            </a:extLst>
          </p:cNvPr>
          <p:cNvSpPr>
            <a:spLocks noGrp="1"/>
          </p:cNvSpPr>
          <p:nvPr>
            <p:ph idx="1"/>
          </p:nvPr>
        </p:nvSpPr>
        <p:spPr>
          <a:xfrm>
            <a:off x="677334" y="979714"/>
            <a:ext cx="10589380" cy="5061648"/>
          </a:xfrm>
        </p:spPr>
        <p:txBody>
          <a:bodyPr/>
          <a:lstStyle/>
          <a:p>
            <a:r>
              <a:rPr lang="en-IN" dirty="0">
                <a:solidFill>
                  <a:schemeClr val="tx1"/>
                </a:solidFill>
                <a:effectLst/>
                <a:latin typeface="Times New Roman" panose="02020603050405020304" pitchFamily="18" charset="0"/>
                <a:ea typeface="Calibri" panose="020F0502020204030204" pitchFamily="34" charset="0"/>
              </a:rPr>
              <a:t>we first difference the data at lag 1 to eliminate the trend component from the data.</a:t>
            </a: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Optimal choice</a:t>
            </a:r>
            <a:r>
              <a:rPr lang="en-I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for d: 1</a:t>
            </a:r>
            <a:endPar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effectLst/>
              <a:latin typeface="Times New Roman" panose="02020603050405020304" pitchFamily="18" charset="0"/>
              <a:ea typeface="Calibri" panose="020F0502020204030204" pitchFamily="34" charset="0"/>
            </a:endParaRPr>
          </a:p>
          <a:p>
            <a:endParaRPr lang="en-IN" dirty="0"/>
          </a:p>
        </p:txBody>
      </p:sp>
      <p:pic>
        <p:nvPicPr>
          <p:cNvPr id="5" name="Picture 4">
            <a:extLst>
              <a:ext uri="{FF2B5EF4-FFF2-40B4-BE49-F238E27FC236}">
                <a16:creationId xmlns:a16="http://schemas.microsoft.com/office/drawing/2014/main" id="{5A14A092-9DAF-D819-1B63-127677DF1CC9}"/>
              </a:ext>
            </a:extLst>
          </p:cNvPr>
          <p:cNvPicPr>
            <a:picLocks noChangeAspect="1"/>
          </p:cNvPicPr>
          <p:nvPr/>
        </p:nvPicPr>
        <p:blipFill>
          <a:blip r:embed="rId2"/>
          <a:stretch>
            <a:fillRect/>
          </a:stretch>
        </p:blipFill>
        <p:spPr>
          <a:xfrm>
            <a:off x="2819400" y="1961258"/>
            <a:ext cx="6553200" cy="3098559"/>
          </a:xfrm>
          <a:prstGeom prst="rect">
            <a:avLst/>
          </a:prstGeom>
        </p:spPr>
      </p:pic>
    </p:spTree>
    <p:extLst>
      <p:ext uri="{BB962C8B-B14F-4D97-AF65-F5344CB8AC3E}">
        <p14:creationId xmlns:p14="http://schemas.microsoft.com/office/powerpoint/2010/main" val="297859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1000"/>
                                        <p:tgtEl>
                                          <p:spTgt spid="3">
                                            <p:txEl>
                                              <p:pRg st="9" end="9"/>
                                            </p:txEl>
                                          </p:spTgt>
                                        </p:tgtEl>
                                      </p:cBhvr>
                                    </p:animEffect>
                                    <p:anim calcmode="lin" valueType="num">
                                      <p:cBhvr>
                                        <p:cTn id="1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9A0B1E-00CB-4E41-78F0-341E0FFC8B0D}"/>
              </a:ext>
            </a:extLst>
          </p:cNvPr>
          <p:cNvSpPr>
            <a:spLocks noGrp="1"/>
          </p:cNvSpPr>
          <p:nvPr>
            <p:ph idx="1"/>
          </p:nvPr>
        </p:nvSpPr>
        <p:spPr>
          <a:xfrm>
            <a:off x="677334" y="903515"/>
            <a:ext cx="8596668" cy="5137848"/>
          </a:xfrm>
        </p:spPr>
        <p:txBody>
          <a:bodyPr/>
          <a:lstStyle/>
          <a:p>
            <a:r>
              <a:rPr lang="en-IN" dirty="0">
                <a:solidFill>
                  <a:schemeClr val="tx1"/>
                </a:solidFill>
                <a:latin typeface="Times New Roman" panose="02020603050405020304" pitchFamily="18" charset="0"/>
                <a:cs typeface="Times New Roman" panose="02020603050405020304" pitchFamily="18" charset="0"/>
              </a:rPr>
              <a:t>Now we will plot the ACF of the detrended series</a:t>
            </a:r>
            <a:r>
              <a:rPr lang="en-IN" dirty="0"/>
              <a:t>.</a:t>
            </a:r>
          </a:p>
          <a:p>
            <a:endParaRPr lang="en-IN" dirty="0"/>
          </a:p>
        </p:txBody>
      </p:sp>
      <p:pic>
        <p:nvPicPr>
          <p:cNvPr id="4" name="Picture 3">
            <a:extLst>
              <a:ext uri="{FF2B5EF4-FFF2-40B4-BE49-F238E27FC236}">
                <a16:creationId xmlns:a16="http://schemas.microsoft.com/office/drawing/2014/main" id="{C87C2346-05A5-2649-AFAD-05040CB43A85}"/>
              </a:ext>
            </a:extLst>
          </p:cNvPr>
          <p:cNvPicPr>
            <a:picLocks noChangeAspect="1"/>
          </p:cNvPicPr>
          <p:nvPr/>
        </p:nvPicPr>
        <p:blipFill>
          <a:blip r:embed="rId2"/>
          <a:stretch>
            <a:fillRect/>
          </a:stretch>
        </p:blipFill>
        <p:spPr>
          <a:xfrm>
            <a:off x="2296688" y="1730828"/>
            <a:ext cx="7598624" cy="3940628"/>
          </a:xfrm>
          <a:prstGeom prst="rect">
            <a:avLst/>
          </a:prstGeom>
        </p:spPr>
      </p:pic>
    </p:spTree>
    <p:extLst>
      <p:ext uri="{BB962C8B-B14F-4D97-AF65-F5344CB8AC3E}">
        <p14:creationId xmlns:p14="http://schemas.microsoft.com/office/powerpoint/2010/main" val="278575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25C9F-FA0A-3B9D-5A58-B5C1DC96826B}"/>
              </a:ext>
            </a:extLst>
          </p:cNvPr>
          <p:cNvSpPr>
            <a:spLocks noGrp="1"/>
          </p:cNvSpPr>
          <p:nvPr>
            <p:ph idx="1"/>
          </p:nvPr>
        </p:nvSpPr>
        <p:spPr>
          <a:xfrm>
            <a:off x="677333" y="903513"/>
            <a:ext cx="10426095" cy="5323116"/>
          </a:xfrm>
        </p:spPr>
        <p:txBody>
          <a:bodyPr>
            <a:normAutofit/>
          </a:bodyPr>
          <a:lstStyle/>
          <a:p>
            <a:r>
              <a:rPr lang="en-IN" dirty="0">
                <a:solidFill>
                  <a:schemeClr val="tx1"/>
                </a:solidFill>
                <a:latin typeface="Times New Roman" panose="02020603050405020304" pitchFamily="18" charset="0"/>
                <a:ea typeface="Calibri" panose="020F0502020204030204" pitchFamily="34" charset="0"/>
              </a:rPr>
              <a:t>W</a:t>
            </a:r>
            <a:r>
              <a:rPr lang="en-IN" dirty="0">
                <a:solidFill>
                  <a:schemeClr val="tx1"/>
                </a:solidFill>
                <a:effectLst/>
                <a:latin typeface="Times New Roman" panose="02020603050405020304" pitchFamily="18" charset="0"/>
                <a:ea typeface="Calibri" panose="020F0502020204030204" pitchFamily="34" charset="0"/>
              </a:rPr>
              <a:t>e take the first order seasonal difference to remove the seasonal fluctuation from the data. Finally, we plot the detrended, de-seasonalized series.</a:t>
            </a: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effectLst/>
              <a:latin typeface="Times New Roman" panose="02020603050405020304" pitchFamily="18" charset="0"/>
              <a:ea typeface="Calibri" panose="020F0502020204030204" pitchFamily="34" charset="0"/>
            </a:endParaRPr>
          </a:p>
          <a:p>
            <a:endParaRPr lang="en-IN" dirty="0">
              <a:solidFill>
                <a:schemeClr val="tx1"/>
              </a:solidFill>
              <a:effectLst/>
              <a:latin typeface="Times New Roman" panose="02020603050405020304" pitchFamily="18" charset="0"/>
              <a:ea typeface="Calibri" panose="020F0502020204030204" pitchFamily="34" charset="0"/>
            </a:endParaRPr>
          </a:p>
          <a:p>
            <a:r>
              <a:rPr lang="en-IN" dirty="0">
                <a:solidFill>
                  <a:schemeClr val="tx1"/>
                </a:solidFill>
                <a:latin typeface="Times New Roman" panose="02020603050405020304" pitchFamily="18" charset="0"/>
                <a:ea typeface="Calibri" panose="020F0502020204030204" pitchFamily="34" charset="0"/>
              </a:rPr>
              <a:t>Optimal choice for D: 1</a:t>
            </a:r>
            <a:endParaRPr lang="en-IN" dirty="0">
              <a:solidFill>
                <a:schemeClr val="tx1"/>
              </a:solidFill>
              <a:effectLst/>
              <a:latin typeface="Times New Roman" panose="02020603050405020304" pitchFamily="18" charset="0"/>
              <a:ea typeface="Calibri" panose="020F0502020204030204" pitchFamily="34" charset="0"/>
            </a:endParaRPr>
          </a:p>
          <a:p>
            <a:endParaRPr lang="en-IN" dirty="0"/>
          </a:p>
        </p:txBody>
      </p:sp>
      <p:pic>
        <p:nvPicPr>
          <p:cNvPr id="4" name="Picture 3">
            <a:extLst>
              <a:ext uri="{FF2B5EF4-FFF2-40B4-BE49-F238E27FC236}">
                <a16:creationId xmlns:a16="http://schemas.microsoft.com/office/drawing/2014/main" id="{10451CB0-F86B-751C-9016-A4E87F51CFFB}"/>
              </a:ext>
            </a:extLst>
          </p:cNvPr>
          <p:cNvPicPr>
            <a:picLocks noChangeAspect="1"/>
          </p:cNvPicPr>
          <p:nvPr/>
        </p:nvPicPr>
        <p:blipFill>
          <a:blip r:embed="rId2"/>
          <a:stretch>
            <a:fillRect/>
          </a:stretch>
        </p:blipFill>
        <p:spPr>
          <a:xfrm>
            <a:off x="2373289" y="2079173"/>
            <a:ext cx="7293021" cy="3363684"/>
          </a:xfrm>
          <a:prstGeom prst="rect">
            <a:avLst/>
          </a:prstGeom>
        </p:spPr>
      </p:pic>
    </p:spTree>
    <p:extLst>
      <p:ext uri="{BB962C8B-B14F-4D97-AF65-F5344CB8AC3E}">
        <p14:creationId xmlns:p14="http://schemas.microsoft.com/office/powerpoint/2010/main" val="18954397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1000"/>
                                        <p:tgtEl>
                                          <p:spTgt spid="3">
                                            <p:txEl>
                                              <p:pRg st="9" end="9"/>
                                            </p:txEl>
                                          </p:spTgt>
                                        </p:tgtEl>
                                      </p:cBhvr>
                                    </p:animEffect>
                                    <p:anim calcmode="lin" valueType="num">
                                      <p:cBhvr>
                                        <p:cTn id="1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E8F227-B5BB-BE33-C7F8-67F7676C3E16}"/>
              </a:ext>
            </a:extLst>
          </p:cNvPr>
          <p:cNvSpPr>
            <a:spLocks noGrp="1"/>
          </p:cNvSpPr>
          <p:nvPr>
            <p:ph idx="1"/>
          </p:nvPr>
        </p:nvSpPr>
        <p:spPr>
          <a:xfrm>
            <a:off x="220134" y="751113"/>
            <a:ext cx="6007176" cy="5508172"/>
          </a:xfrm>
        </p:spPr>
        <p:txBody>
          <a:bodyPr>
            <a:noAutofit/>
          </a:bodyPr>
          <a:lstStyle/>
          <a:p>
            <a:r>
              <a:rPr lang="en-IN" dirty="0">
                <a:solidFill>
                  <a:schemeClr val="tx1"/>
                </a:solidFill>
                <a:effectLst/>
                <a:latin typeface="Times New Roman" panose="02020603050405020304" pitchFamily="18" charset="0"/>
                <a:ea typeface="Calibri" panose="020F0502020204030204" pitchFamily="34" charset="0"/>
              </a:rPr>
              <a:t>I plot ACF of the detrended, de-seasonalized data.</a:t>
            </a:r>
          </a:p>
          <a:p>
            <a:endParaRPr lang="en-IN" dirty="0">
              <a:solidFill>
                <a:schemeClr val="tx1"/>
              </a:solidFill>
              <a:effectLst/>
              <a:latin typeface="Times New Roman" panose="02020603050405020304" pitchFamily="18" charset="0"/>
              <a:ea typeface="Calibri" panose="020F0502020204030204" pitchFamily="34" charset="0"/>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pPr marL="0" indent="0">
              <a:buNone/>
            </a:pP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Optimal choice of q: </a:t>
            </a:r>
            <a:r>
              <a:rPr lang="en-IN" b="1" dirty="0">
                <a:solidFill>
                  <a:schemeClr val="tx1"/>
                </a:solidFill>
                <a:latin typeface="Times New Roman" panose="02020603050405020304" pitchFamily="18" charset="0"/>
                <a:cs typeface="Times New Roman" panose="02020603050405020304" pitchFamily="18" charset="0"/>
              </a:rPr>
              <a:t>0,1,2</a:t>
            </a:r>
          </a:p>
          <a:p>
            <a:r>
              <a:rPr lang="en-I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Optimal choice of Q : </a:t>
            </a:r>
            <a:r>
              <a:rPr lang="en-IN"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B4785AC-A13B-6023-B7A2-4AEC2FE7ADBB}"/>
              </a:ext>
            </a:extLst>
          </p:cNvPr>
          <p:cNvPicPr>
            <a:picLocks noChangeAspect="1"/>
          </p:cNvPicPr>
          <p:nvPr/>
        </p:nvPicPr>
        <p:blipFill>
          <a:blip r:embed="rId2"/>
          <a:stretch>
            <a:fillRect/>
          </a:stretch>
        </p:blipFill>
        <p:spPr>
          <a:xfrm>
            <a:off x="411105" y="1643743"/>
            <a:ext cx="5281075" cy="3015342"/>
          </a:xfrm>
          <a:prstGeom prst="rect">
            <a:avLst/>
          </a:prstGeom>
        </p:spPr>
      </p:pic>
      <p:sp>
        <p:nvSpPr>
          <p:cNvPr id="2" name="Content Placeholder 2">
            <a:extLst>
              <a:ext uri="{FF2B5EF4-FFF2-40B4-BE49-F238E27FC236}">
                <a16:creationId xmlns:a16="http://schemas.microsoft.com/office/drawing/2014/main" id="{4C072158-EC59-F799-35BD-65D60E23F18B}"/>
              </a:ext>
            </a:extLst>
          </p:cNvPr>
          <p:cNvSpPr txBox="1">
            <a:spLocks/>
          </p:cNvSpPr>
          <p:nvPr/>
        </p:nvSpPr>
        <p:spPr>
          <a:xfrm>
            <a:off x="6382130" y="751112"/>
            <a:ext cx="5744556" cy="550817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Now, I plot the PACF of the detrended and de-seasonalized series.</a:t>
            </a: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400" kern="100" dirty="0">
                <a:latin typeface="Times New Roman" panose="02020603050405020304" pitchFamily="18" charset="0"/>
                <a:ea typeface="Calibri" panose="020F0502020204030204" pitchFamily="34" charset="0"/>
                <a:cs typeface="Times New Roman" panose="02020603050405020304" pitchFamily="18" charset="0"/>
              </a:rPr>
              <a:t>Optimal choice for p: </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0,1,2</a:t>
            </a:r>
          </a:p>
          <a:p>
            <a:r>
              <a:rPr lang="en-IN" sz="2400" kern="100" dirty="0">
                <a:latin typeface="Times New Roman" panose="02020603050405020304" pitchFamily="18" charset="0"/>
                <a:ea typeface="Calibri" panose="020F0502020204030204" pitchFamily="34" charset="0"/>
                <a:cs typeface="Times New Roman" panose="02020603050405020304" pitchFamily="18" charset="0"/>
              </a:rPr>
              <a:t>Optimal choice for P: </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1,2,3</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F32CD51-344D-378F-199B-85626A5C579F}"/>
              </a:ext>
            </a:extLst>
          </p:cNvPr>
          <p:cNvPicPr>
            <a:picLocks noChangeAspect="1"/>
          </p:cNvPicPr>
          <p:nvPr/>
        </p:nvPicPr>
        <p:blipFill>
          <a:blip r:embed="rId3"/>
          <a:stretch>
            <a:fillRect/>
          </a:stretch>
        </p:blipFill>
        <p:spPr>
          <a:xfrm>
            <a:off x="6629400" y="1643743"/>
            <a:ext cx="5342466" cy="3124198"/>
          </a:xfrm>
          <a:prstGeom prst="rect">
            <a:avLst/>
          </a:prstGeom>
        </p:spPr>
      </p:pic>
    </p:spTree>
    <p:extLst>
      <p:ext uri="{BB962C8B-B14F-4D97-AF65-F5344CB8AC3E}">
        <p14:creationId xmlns:p14="http://schemas.microsoft.com/office/powerpoint/2010/main" val="5398958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fade">
                                      <p:cBhvr>
                                        <p:cTn id="17" dur="1000"/>
                                        <p:tgtEl>
                                          <p:spTgt spid="3">
                                            <p:txEl>
                                              <p:pRg st="9" end="9"/>
                                            </p:txEl>
                                          </p:spTgt>
                                        </p:tgtEl>
                                      </p:cBhvr>
                                    </p:animEffect>
                                    <p:anim calcmode="lin" valueType="num">
                                      <p:cBhvr>
                                        <p:cTn id="1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1000"/>
                                        <p:tgtEl>
                                          <p:spTgt spid="3">
                                            <p:txEl>
                                              <p:pRg st="10" end="10"/>
                                            </p:txEl>
                                          </p:spTgt>
                                        </p:tgtEl>
                                      </p:cBhvr>
                                    </p:animEffect>
                                    <p:anim calcmode="lin" valueType="num">
                                      <p:cBhvr>
                                        <p:cTn id="2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animEffect transition="in" filter="fade">
                                      <p:cBhvr>
                                        <p:cTn id="29" dur="500"/>
                                        <p:tgtEl>
                                          <p:spTgt spid="2">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animEffect transition="in" filter="fade">
                                      <p:cBhvr>
                                        <p:cTn id="37" dur="1000"/>
                                        <p:tgtEl>
                                          <p:spTgt spid="2">
                                            <p:txEl>
                                              <p:pRg st="11" end="11"/>
                                            </p:txEl>
                                          </p:spTgt>
                                        </p:tgtEl>
                                      </p:cBhvr>
                                    </p:animEffect>
                                    <p:anim calcmode="lin" valueType="num">
                                      <p:cBhvr>
                                        <p:cTn id="38"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
                                            <p:txEl>
                                              <p:pRg st="12" end="12"/>
                                            </p:txEl>
                                          </p:spTgt>
                                        </p:tgtEl>
                                        <p:attrNameLst>
                                          <p:attrName>style.visibility</p:attrName>
                                        </p:attrNameLst>
                                      </p:cBhvr>
                                      <p:to>
                                        <p:strVal val="visible"/>
                                      </p:to>
                                    </p:set>
                                    <p:animEffect transition="in" filter="fade">
                                      <p:cBhvr>
                                        <p:cTn id="42" dur="1000"/>
                                        <p:tgtEl>
                                          <p:spTgt spid="2">
                                            <p:txEl>
                                              <p:pRg st="12" end="12"/>
                                            </p:txEl>
                                          </p:spTgt>
                                        </p:tgtEl>
                                      </p:cBhvr>
                                    </p:animEffect>
                                    <p:anim calcmode="lin" valueType="num">
                                      <p:cBhvr>
                                        <p:cTn id="43"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6A1D-CB6D-5D76-F74F-ABDAEC645C8D}"/>
              </a:ext>
            </a:extLst>
          </p:cNvPr>
          <p:cNvSpPr>
            <a:spLocks noGrp="1"/>
          </p:cNvSpPr>
          <p:nvPr>
            <p:ph type="title"/>
          </p:nvPr>
        </p:nvSpPr>
        <p:spPr>
          <a:xfrm>
            <a:off x="1705137" y="446314"/>
            <a:ext cx="8596668" cy="631371"/>
          </a:xfrm>
        </p:spPr>
        <p:txBody>
          <a:bodyPr>
            <a:normAutofit/>
          </a:bodyPr>
          <a:lstStyle/>
          <a:p>
            <a:r>
              <a:rPr lang="en-IN" sz="2800" u="sng" dirty="0">
                <a:solidFill>
                  <a:schemeClr val="accent5">
                    <a:lumMod val="20000"/>
                    <a:lumOff val="80000"/>
                  </a:schemeClr>
                </a:solidFill>
              </a:rPr>
              <a:t>Fitting of appropriate model</a:t>
            </a:r>
          </a:p>
        </p:txBody>
      </p:sp>
      <p:sp>
        <p:nvSpPr>
          <p:cNvPr id="3" name="Content Placeholder 2">
            <a:extLst>
              <a:ext uri="{FF2B5EF4-FFF2-40B4-BE49-F238E27FC236}">
                <a16:creationId xmlns:a16="http://schemas.microsoft.com/office/drawing/2014/main" id="{CE0205FE-8FCA-5CE6-46F9-4047B9B4BB13}"/>
              </a:ext>
            </a:extLst>
          </p:cNvPr>
          <p:cNvSpPr>
            <a:spLocks noGrp="1"/>
          </p:cNvSpPr>
          <p:nvPr>
            <p:ph idx="1"/>
          </p:nvPr>
        </p:nvSpPr>
        <p:spPr>
          <a:xfrm>
            <a:off x="677333" y="1393371"/>
            <a:ext cx="10339009" cy="4953000"/>
          </a:xfrm>
        </p:spPr>
        <p:txBody>
          <a:bodyPr/>
          <a:lstStyle/>
          <a:p>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Then we fit SARIMA (Seasonal Auto-Regressive Integrated Moving Average) models of  different order combinations to the data and finally we will check for which model the </a:t>
            </a:r>
            <a:r>
              <a:rPr lang="en-IN" sz="18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aic</a:t>
            </a: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(Akaike information criterion) value is minimum.</a:t>
            </a: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C1983D26-EB18-8285-ABDB-FD28A2FF92DC}"/>
              </a:ext>
            </a:extLst>
          </p:cNvPr>
          <p:cNvGraphicFramePr>
            <a:graphicFrameLocks noGrp="1"/>
          </p:cNvGraphicFramePr>
          <p:nvPr>
            <p:extLst>
              <p:ext uri="{D42A27DB-BD31-4B8C-83A1-F6EECF244321}">
                <p14:modId xmlns:p14="http://schemas.microsoft.com/office/powerpoint/2010/main" val="2337857432"/>
              </p:ext>
            </p:extLst>
          </p:nvPr>
        </p:nvGraphicFramePr>
        <p:xfrm>
          <a:off x="3243943" y="2656114"/>
          <a:ext cx="5519057" cy="3690256"/>
        </p:xfrm>
        <a:graphic>
          <a:graphicData uri="http://schemas.openxmlformats.org/drawingml/2006/table">
            <a:tbl>
              <a:tblPr firstRow="1" firstCol="1" bandRow="1">
                <a:tableStyleId>{5C22544A-7EE6-4342-B048-85BDC9FD1C3A}</a:tableStyleId>
              </a:tblPr>
              <a:tblGrid>
                <a:gridCol w="2897175">
                  <a:extLst>
                    <a:ext uri="{9D8B030D-6E8A-4147-A177-3AD203B41FA5}">
                      <a16:colId xmlns:a16="http://schemas.microsoft.com/office/drawing/2014/main" val="800569979"/>
                    </a:ext>
                  </a:extLst>
                </a:gridCol>
                <a:gridCol w="2621882">
                  <a:extLst>
                    <a:ext uri="{9D8B030D-6E8A-4147-A177-3AD203B41FA5}">
                      <a16:colId xmlns:a16="http://schemas.microsoft.com/office/drawing/2014/main" val="1000000325"/>
                    </a:ext>
                  </a:extLst>
                </a:gridCol>
              </a:tblGrid>
              <a:tr h="194224">
                <a:tc>
                  <a:txBody>
                    <a:bodyPr/>
                    <a:lstStyle/>
                    <a:p>
                      <a:pPr algn="ctr">
                        <a:lnSpc>
                          <a:spcPct val="107000"/>
                        </a:lnSpc>
                        <a:spcAft>
                          <a:spcPts val="800"/>
                        </a:spcAft>
                        <a:buNone/>
                      </a:pPr>
                      <a:r>
                        <a:rPr lang="en-IN" sz="1200" kern="100">
                          <a:effectLst/>
                        </a:rPr>
                        <a:t>Model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aic value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96200786"/>
                  </a:ext>
                </a:extLst>
              </a:tr>
              <a:tr h="194224">
                <a:tc>
                  <a:txBody>
                    <a:bodyPr/>
                    <a:lstStyle/>
                    <a:p>
                      <a:pPr algn="ctr">
                        <a:lnSpc>
                          <a:spcPct val="107000"/>
                        </a:lnSpc>
                        <a:spcAft>
                          <a:spcPts val="800"/>
                        </a:spcAft>
                        <a:buNone/>
                      </a:pPr>
                      <a:r>
                        <a:rPr lang="en-IN" sz="1200" b="0" kern="100">
                          <a:effectLst/>
                        </a:rPr>
                        <a:t>ARIMA (0,1,0)×(1,1,1)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765.3372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4459869"/>
                  </a:ext>
                </a:extLst>
              </a:tr>
              <a:tr h="194224">
                <a:tc>
                  <a:txBody>
                    <a:bodyPr/>
                    <a:lstStyle/>
                    <a:p>
                      <a:pPr algn="ctr">
                        <a:lnSpc>
                          <a:spcPct val="107000"/>
                        </a:lnSpc>
                        <a:spcAft>
                          <a:spcPts val="800"/>
                        </a:spcAft>
                        <a:buNone/>
                      </a:pPr>
                      <a:r>
                        <a:rPr lang="en-IN" sz="1200" b="0" kern="100">
                          <a:effectLst/>
                        </a:rPr>
                        <a:t> ARIMA (1,1,0)×(1,1,1)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763.8883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4696305"/>
                  </a:ext>
                </a:extLst>
              </a:tr>
              <a:tr h="194224">
                <a:tc>
                  <a:txBody>
                    <a:bodyPr/>
                    <a:lstStyle/>
                    <a:p>
                      <a:pPr algn="ctr">
                        <a:lnSpc>
                          <a:spcPct val="107000"/>
                        </a:lnSpc>
                        <a:spcAft>
                          <a:spcPts val="800"/>
                        </a:spcAft>
                        <a:buNone/>
                      </a:pPr>
                      <a:r>
                        <a:rPr lang="en-IN" sz="1200" b="0" kern="100">
                          <a:effectLst/>
                        </a:rPr>
                        <a:t>ARIMA (0,1,1)×(0,1,1)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764.0646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2619398"/>
                  </a:ext>
                </a:extLst>
              </a:tr>
              <a:tr h="194224">
                <a:tc>
                  <a:txBody>
                    <a:bodyPr/>
                    <a:lstStyle/>
                    <a:p>
                      <a:pPr algn="ctr">
                        <a:lnSpc>
                          <a:spcPct val="107000"/>
                        </a:lnSpc>
                        <a:spcAft>
                          <a:spcPts val="800"/>
                        </a:spcAft>
                        <a:buNone/>
                      </a:pPr>
                      <a:r>
                        <a:rPr lang="en-IN" sz="1200" b="0" kern="100">
                          <a:effectLst/>
                        </a:rPr>
                        <a:t>ARIMA (1,1,1)×(1,1,1)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765.2669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5357453"/>
                  </a:ext>
                </a:extLst>
              </a:tr>
              <a:tr h="194224">
                <a:tc>
                  <a:txBody>
                    <a:bodyPr/>
                    <a:lstStyle/>
                    <a:p>
                      <a:pPr algn="ctr">
                        <a:lnSpc>
                          <a:spcPct val="107000"/>
                        </a:lnSpc>
                        <a:spcAft>
                          <a:spcPts val="800"/>
                        </a:spcAft>
                        <a:buNone/>
                      </a:pPr>
                      <a:r>
                        <a:rPr lang="en-IN" sz="1200" b="0" kern="100">
                          <a:effectLst/>
                        </a:rPr>
                        <a:t>ARIMA (1,1,2)×(1,1,1)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765.3800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8219066"/>
                  </a:ext>
                </a:extLst>
              </a:tr>
              <a:tr h="194224">
                <a:tc>
                  <a:txBody>
                    <a:bodyPr/>
                    <a:lstStyle/>
                    <a:p>
                      <a:pPr algn="ctr">
                        <a:lnSpc>
                          <a:spcPct val="107000"/>
                        </a:lnSpc>
                        <a:spcAft>
                          <a:spcPts val="800"/>
                        </a:spcAft>
                        <a:buNone/>
                      </a:pPr>
                      <a:r>
                        <a:rPr lang="en-IN" sz="1200" b="0" kern="100">
                          <a:effectLst/>
                        </a:rPr>
                        <a:t>ARIMA (1,1,2)×(2,1,1)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757.6896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2563782"/>
                  </a:ext>
                </a:extLst>
              </a:tr>
              <a:tr h="194224">
                <a:tc>
                  <a:txBody>
                    <a:bodyPr/>
                    <a:lstStyle/>
                    <a:p>
                      <a:pPr algn="ctr">
                        <a:lnSpc>
                          <a:spcPct val="107000"/>
                        </a:lnSpc>
                        <a:spcAft>
                          <a:spcPts val="800"/>
                        </a:spcAft>
                        <a:buNone/>
                      </a:pPr>
                      <a:r>
                        <a:rPr lang="en-IN" sz="1200" b="0" kern="100">
                          <a:effectLst/>
                        </a:rPr>
                        <a:t>ARIMA (1,1,2)×(0,1,1)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764.9509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9527071"/>
                  </a:ext>
                </a:extLst>
              </a:tr>
              <a:tr h="194224">
                <a:tc>
                  <a:txBody>
                    <a:bodyPr/>
                    <a:lstStyle/>
                    <a:p>
                      <a:pPr algn="ctr">
                        <a:lnSpc>
                          <a:spcPct val="107000"/>
                        </a:lnSpc>
                        <a:spcAft>
                          <a:spcPts val="800"/>
                        </a:spcAft>
                        <a:buNone/>
                      </a:pPr>
                      <a:r>
                        <a:rPr lang="en-IN" sz="1200" b="0" kern="100">
                          <a:effectLst/>
                        </a:rPr>
                        <a:t>ARIMA (0,1,2)×(0,1,1)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764.6481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9613847"/>
                  </a:ext>
                </a:extLst>
              </a:tr>
              <a:tr h="194224">
                <a:tc>
                  <a:txBody>
                    <a:bodyPr/>
                    <a:lstStyle/>
                    <a:p>
                      <a:pPr algn="ctr">
                        <a:lnSpc>
                          <a:spcPct val="107000"/>
                        </a:lnSpc>
                        <a:spcAft>
                          <a:spcPts val="800"/>
                        </a:spcAft>
                        <a:buNone/>
                      </a:pPr>
                      <a:r>
                        <a:rPr lang="en-IN" sz="1200" b="0" kern="100">
                          <a:effectLst/>
                        </a:rPr>
                        <a:t>ARIMA (0,1,2)×(3,1,1)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757.2819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0889241"/>
                  </a:ext>
                </a:extLst>
              </a:tr>
              <a:tr h="194224">
                <a:tc>
                  <a:txBody>
                    <a:bodyPr/>
                    <a:lstStyle/>
                    <a:p>
                      <a:pPr algn="ctr">
                        <a:lnSpc>
                          <a:spcPct val="107000"/>
                        </a:lnSpc>
                        <a:spcAft>
                          <a:spcPts val="800"/>
                        </a:spcAft>
                        <a:buNone/>
                      </a:pPr>
                      <a:r>
                        <a:rPr lang="en-IN" sz="1200" b="0" kern="100">
                          <a:effectLst/>
                        </a:rPr>
                        <a:t>ARIMA (0,1,2)×(1,1,1)</a:t>
                      </a:r>
                      <a:r>
                        <a:rPr lang="en-IN" sz="1200" b="0" kern="100" baseline="-25000">
                          <a:effectLst/>
                        </a:rPr>
                        <a:t>12</a:t>
                      </a:r>
                      <a:endParaRPr lang="en-IN"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765.1054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699175"/>
                  </a:ext>
                </a:extLst>
              </a:tr>
              <a:tr h="194224">
                <a:tc>
                  <a:txBody>
                    <a:bodyPr/>
                    <a:lstStyle/>
                    <a:p>
                      <a:pPr algn="ctr">
                        <a:lnSpc>
                          <a:spcPct val="107000"/>
                        </a:lnSpc>
                        <a:spcAft>
                          <a:spcPts val="800"/>
                        </a:spcAft>
                        <a:buNone/>
                      </a:pPr>
                      <a:r>
                        <a:rPr lang="en-IN" sz="1200" b="0" kern="100" dirty="0">
                          <a:effectLst/>
                        </a:rPr>
                        <a:t>ARIMA (0,1,1)×(3,1,1)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756.9207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8713185"/>
                  </a:ext>
                </a:extLst>
              </a:tr>
              <a:tr h="194224">
                <a:tc>
                  <a:txBody>
                    <a:bodyPr/>
                    <a:lstStyle/>
                    <a:p>
                      <a:pPr algn="ctr">
                        <a:lnSpc>
                          <a:spcPct val="107000"/>
                        </a:lnSpc>
                        <a:spcAft>
                          <a:spcPts val="800"/>
                        </a:spcAft>
                        <a:buNone/>
                      </a:pPr>
                      <a:r>
                        <a:rPr lang="en-IN" sz="1200" b="1" kern="100" dirty="0">
                          <a:effectLst/>
                        </a:rPr>
                        <a:t>ARIMA (2,1,2)×(2,1,1)</a:t>
                      </a:r>
                      <a:r>
                        <a:rPr lang="en-IN" sz="1200" b="1" kern="100" baseline="-25000" dirty="0">
                          <a:effectLst/>
                        </a:rPr>
                        <a:t>12</a:t>
                      </a:r>
                      <a:endParaRPr lang="en-IN" sz="11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b="1" kern="100" dirty="0">
                          <a:effectLst/>
                        </a:rPr>
                        <a:t>748.4358</a:t>
                      </a:r>
                      <a:endParaRPr lang="en-IN" sz="11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3006927"/>
                  </a:ext>
                </a:extLst>
              </a:tr>
              <a:tr h="194224">
                <a:tc>
                  <a:txBody>
                    <a:bodyPr/>
                    <a:lstStyle/>
                    <a:p>
                      <a:pPr algn="ctr">
                        <a:lnSpc>
                          <a:spcPct val="107000"/>
                        </a:lnSpc>
                        <a:spcAft>
                          <a:spcPts val="800"/>
                        </a:spcAft>
                        <a:buNone/>
                      </a:pPr>
                      <a:r>
                        <a:rPr lang="en-IN" sz="1200" b="0" kern="100" dirty="0">
                          <a:effectLst/>
                        </a:rPr>
                        <a:t>ARIMA (2,1,1) × (2,1,1)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758.0181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562300"/>
                  </a:ext>
                </a:extLst>
              </a:tr>
              <a:tr h="194224">
                <a:tc>
                  <a:txBody>
                    <a:bodyPr/>
                    <a:lstStyle/>
                    <a:p>
                      <a:pPr algn="ctr">
                        <a:lnSpc>
                          <a:spcPct val="107000"/>
                        </a:lnSpc>
                        <a:spcAft>
                          <a:spcPts val="800"/>
                        </a:spcAft>
                        <a:buNone/>
                      </a:pPr>
                      <a:r>
                        <a:rPr lang="en-IN" sz="1200" b="0" kern="100" dirty="0">
                          <a:effectLst/>
                        </a:rPr>
                        <a:t>ARIMA (2,1,2) × (3,1,1)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759.7821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0104025"/>
                  </a:ext>
                </a:extLst>
              </a:tr>
              <a:tr h="194224">
                <a:tc>
                  <a:txBody>
                    <a:bodyPr/>
                    <a:lstStyle/>
                    <a:p>
                      <a:pPr algn="ctr">
                        <a:lnSpc>
                          <a:spcPct val="107000"/>
                        </a:lnSpc>
                        <a:spcAft>
                          <a:spcPts val="800"/>
                        </a:spcAft>
                        <a:buNone/>
                      </a:pPr>
                      <a:r>
                        <a:rPr lang="en-IN" sz="1200" b="0" kern="100" dirty="0">
                          <a:effectLst/>
                        </a:rPr>
                        <a:t>ARIMA (2,1,1)×(1,1,1)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effectLst/>
                        </a:rPr>
                        <a:t>765.7656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0927647"/>
                  </a:ext>
                </a:extLst>
              </a:tr>
              <a:tr h="194224">
                <a:tc>
                  <a:txBody>
                    <a:bodyPr/>
                    <a:lstStyle/>
                    <a:p>
                      <a:pPr algn="ctr">
                        <a:lnSpc>
                          <a:spcPct val="107000"/>
                        </a:lnSpc>
                        <a:spcAft>
                          <a:spcPts val="800"/>
                        </a:spcAft>
                        <a:buNone/>
                      </a:pPr>
                      <a:r>
                        <a:rPr lang="en-IN" sz="1200" b="0" kern="100" dirty="0">
                          <a:effectLst/>
                        </a:rPr>
                        <a:t>ARIMA (2,1,1)×(0,1,1)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765.3081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4032997"/>
                  </a:ext>
                </a:extLst>
              </a:tr>
              <a:tr h="194224">
                <a:tc>
                  <a:txBody>
                    <a:bodyPr/>
                    <a:lstStyle/>
                    <a:p>
                      <a:pPr algn="ctr">
                        <a:lnSpc>
                          <a:spcPct val="107000"/>
                        </a:lnSpc>
                        <a:spcAft>
                          <a:spcPts val="800"/>
                        </a:spcAft>
                        <a:buNone/>
                      </a:pPr>
                      <a:r>
                        <a:rPr lang="en-IN" sz="1200" b="0" kern="100" dirty="0">
                          <a:effectLst/>
                        </a:rPr>
                        <a:t>ARIMA (2,1,2)×(1,1,1)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755.2867</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5549646"/>
                  </a:ext>
                </a:extLst>
              </a:tr>
              <a:tr h="194224">
                <a:tc>
                  <a:txBody>
                    <a:bodyPr/>
                    <a:lstStyle/>
                    <a:p>
                      <a:pPr algn="ctr">
                        <a:lnSpc>
                          <a:spcPct val="107000"/>
                        </a:lnSpc>
                        <a:spcAft>
                          <a:spcPts val="800"/>
                        </a:spcAft>
                        <a:buNone/>
                      </a:pPr>
                      <a:r>
                        <a:rPr lang="en-IN" sz="1200" b="0" kern="100" dirty="0">
                          <a:effectLst/>
                        </a:rPr>
                        <a:t>ARIMA (2,1,2)×(0,1,1)</a:t>
                      </a:r>
                      <a:r>
                        <a:rPr lang="en-IN" sz="1200" b="0" kern="100" baseline="-25000" dirty="0">
                          <a:effectLst/>
                        </a:rPr>
                        <a:t>12</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effectLst/>
                        </a:rPr>
                        <a:t>756.6868</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8726251"/>
                  </a:ext>
                </a:extLst>
              </a:tr>
            </a:tbl>
          </a:graphicData>
        </a:graphic>
      </p:graphicFrame>
    </p:spTree>
    <p:extLst>
      <p:ext uri="{BB962C8B-B14F-4D97-AF65-F5344CB8AC3E}">
        <p14:creationId xmlns:p14="http://schemas.microsoft.com/office/powerpoint/2010/main" val="118350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CA1B7D-E45C-B8BE-423C-5D8510CE089E}"/>
                  </a:ext>
                </a:extLst>
              </p:cNvPr>
              <p:cNvSpPr>
                <a:spLocks noGrp="1"/>
              </p:cNvSpPr>
              <p:nvPr>
                <p:ph idx="1"/>
              </p:nvPr>
            </p:nvSpPr>
            <p:spPr>
              <a:xfrm>
                <a:off x="677333" y="576942"/>
                <a:ext cx="10632923" cy="5736772"/>
              </a:xfrm>
            </p:spPr>
            <p:txBody>
              <a:bodyPr>
                <a:normAutofit fontScale="92500" lnSpcReduction="20000"/>
              </a:bodyPr>
              <a:lstStyle/>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 see that, the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aic</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value corresponding to ARIMA(2,1,2)×(2,1,1)</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 minimum among all above suggested models. Hence, we fit ARIMA(2,1,2)×(2,1,1)</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model to the above data. The root means square error corresponding to this model is 13.7981.</a:t>
                </a: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Then the model becomes as follows,</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gn="ctr">
                  <a:lnSpc>
                    <a:spcPct val="107000"/>
                  </a:lnSpc>
                  <a:spcAft>
                    <a:spcPts val="800"/>
                  </a:spcAft>
                  <a:buNone/>
                </a:pP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𝚽</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𝚽</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24</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𝝓</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𝝓</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(1-B) (1-B</a:t>
                </a:r>
                <a:r>
                  <a:rPr lang="en-IN" b="1" kern="100"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𝚯</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𝜽</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𝜽</m:t>
                    </m:r>
                  </m:oMath>
                </a14:m>
                <a:r>
                  <a:rPr lang="en-IN" b="1"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value of the process at timepoint t</a:t>
                </a:r>
                <a:r>
                  <a:rPr lang="en-IN"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value of the random walk process at </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baseline="30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timepoint</a:t>
                </a:r>
                <a:endParaRPr lang="en-IN"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 = backshift operator i.e. B(</a:t>
                </a:r>
                <a:r>
                  <a:rPr lang="en-IN"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x</a:t>
                </a:r>
                <a:r>
                  <a:rPr lang="en-IN"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t-1</a:t>
                </a:r>
                <a:endParaRPr lang="en-IN" kern="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buNone/>
                </a:pP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a:t>
                </a:r>
                <a14:m>
                  <m:oMath xmlns:m="http://schemas.openxmlformats.org/officeDocument/2006/math">
                    <m:r>
                      <m:rPr>
                        <m:sty m:val="p"/>
                      </m:rPr>
                      <a:rPr lang="en-IN"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Φ</m:t>
                    </m:r>
                  </m:oMath>
                </a14:m>
                <a:r>
                  <a:rPr lang="en-IN"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a:t>
                </a:r>
                <a14:m>
                  <m:oMath xmlns:m="http://schemas.openxmlformats.org/officeDocument/2006/math">
                    <m:r>
                      <m:rPr>
                        <m:sty m:val="p"/>
                      </m:rPr>
                      <a:rPr lang="en-IN"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Φ</m:t>
                    </m:r>
                  </m:oMath>
                </a14:m>
                <a:r>
                  <a:rPr lang="en-IN"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i="1" kern="100" dirty="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r>
                      <a:rPr lang="en-IN" i="1">
                        <a:solidFill>
                          <a:schemeClr val="tx1"/>
                        </a:solidFill>
                        <a:latin typeface="Cambria Math" panose="02040503050406030204" pitchFamily="18" charset="0"/>
                      </a:rPr>
                      <m:t>𝜙</m:t>
                    </m:r>
                  </m:oMath>
                </a14:m>
                <a:r>
                  <a:rPr lang="en-IN" baseline="-25000" dirty="0">
                    <a:solidFill>
                      <a:schemeClr val="tx1"/>
                    </a:solidFill>
                  </a:rPr>
                  <a:t>1,</a:t>
                </a:r>
                <a:r>
                  <a:rPr lang="en-IN" i="1" dirty="0">
                    <a:solidFill>
                      <a:schemeClr val="tx1"/>
                    </a:solidFill>
                  </a:rPr>
                  <a:t> </a:t>
                </a:r>
                <a14:m>
                  <m:oMath xmlns:m="http://schemas.openxmlformats.org/officeDocument/2006/math">
                    <m:sSub>
                      <m:sSubPr>
                        <m:ctrlPr>
                          <a:rPr lang="en-IN" i="1" smtClean="0">
                            <a:solidFill>
                              <a:schemeClr val="tx1"/>
                            </a:solidFill>
                            <a:latin typeface="Cambria Math" panose="02040503050406030204" pitchFamily="18" charset="0"/>
                            <a:ea typeface="Cambria Math" panose="02040503050406030204" pitchFamily="18" charset="0"/>
                          </a:rPr>
                        </m:ctrlPr>
                      </m:sSubPr>
                      <m:e>
                        <m:r>
                          <a:rPr lang="en-IN" i="1" smtClean="0">
                            <a:solidFill>
                              <a:schemeClr val="tx1"/>
                            </a:solidFill>
                            <a:latin typeface="Cambria Math" panose="02040503050406030204" pitchFamily="18" charset="0"/>
                            <a:ea typeface="Cambria Math" panose="02040503050406030204" pitchFamily="18" charset="0"/>
                          </a:rPr>
                          <m:t>𝜙</m:t>
                        </m:r>
                      </m:e>
                      <m:sub>
                        <m:r>
                          <a:rPr lang="en-IN" b="0" i="1" smtClean="0">
                            <a:solidFill>
                              <a:schemeClr val="tx1"/>
                            </a:solidFill>
                            <a:latin typeface="Cambria Math" panose="02040503050406030204" pitchFamily="18" charset="0"/>
                          </a:rPr>
                          <m:t>2</m:t>
                        </m:r>
                      </m:sub>
                    </m:sSub>
                    <m:r>
                      <a:rPr lang="en-IN" b="0" i="1" smtClean="0">
                        <a:solidFill>
                          <a:schemeClr val="tx1"/>
                        </a:solidFill>
                        <a:latin typeface="Cambria Math" panose="02040503050406030204" pitchFamily="18" charset="0"/>
                      </a:rPr>
                      <m:t>, </m:t>
                    </m:r>
                    <m:sSub>
                      <m:sSubPr>
                        <m:ctrlPr>
                          <a:rPr lang="el-GR" b="0" i="1" smtClean="0">
                            <a:solidFill>
                              <a:schemeClr val="tx1"/>
                            </a:solidFill>
                            <a:latin typeface="Cambria Math" panose="02040503050406030204" pitchFamily="18" charset="0"/>
                            <a:ea typeface="Cambria Math" panose="02040503050406030204" pitchFamily="18" charset="0"/>
                          </a:rPr>
                        </m:ctrlPr>
                      </m:sSubPr>
                      <m:e>
                        <m:r>
                          <m:rPr>
                            <m:sty m:val="p"/>
                          </m:rPr>
                          <a:rPr lang="el-GR" b="0" i="1" smtClean="0">
                            <a:solidFill>
                              <a:schemeClr val="tx1"/>
                            </a:solidFill>
                            <a:latin typeface="Cambria Math" panose="02040503050406030204" pitchFamily="18" charset="0"/>
                            <a:ea typeface="Cambria Math" panose="02040503050406030204" pitchFamily="18" charset="0"/>
                          </a:rPr>
                          <m:t>Θ</m:t>
                        </m:r>
                      </m:e>
                      <m:sub>
                        <m:r>
                          <a:rPr lang="en-IN" b="0" i="1" smtClean="0">
                            <a:solidFill>
                              <a:schemeClr val="tx1"/>
                            </a:solidFill>
                            <a:latin typeface="Cambria Math" panose="02040503050406030204" pitchFamily="18" charset="0"/>
                          </a:rPr>
                          <m:t>1</m:t>
                        </m:r>
                      </m:sub>
                    </m:sSub>
                    <m:r>
                      <a:rPr lang="en-IN" b="0" i="1" smtClean="0">
                        <a:solidFill>
                          <a:schemeClr val="tx1"/>
                        </a:solidFill>
                        <a:latin typeface="Cambria Math" panose="02040503050406030204" pitchFamily="18" charset="0"/>
                      </a:rPr>
                      <m:t>,</m:t>
                    </m:r>
                    <m:sSub>
                      <m:sSubPr>
                        <m:ctrlPr>
                          <a:rPr lang="en-IN" b="0" i="1" smtClean="0">
                            <a:solidFill>
                              <a:schemeClr val="tx1"/>
                            </a:solidFill>
                            <a:latin typeface="Cambria Math" panose="02040503050406030204" pitchFamily="18" charset="0"/>
                            <a:ea typeface="Cambria Math" panose="02040503050406030204" pitchFamily="18" charset="0"/>
                          </a:rPr>
                        </m:ctrlPr>
                      </m:sSubPr>
                      <m:e>
                        <m:r>
                          <a:rPr lang="en-IN" b="0" i="1" smtClean="0">
                            <a:solidFill>
                              <a:schemeClr val="tx1"/>
                            </a:solidFill>
                            <a:latin typeface="Cambria Math" panose="02040503050406030204" pitchFamily="18" charset="0"/>
                            <a:ea typeface="Cambria Math" panose="02040503050406030204" pitchFamily="18" charset="0"/>
                          </a:rPr>
                          <m:t>𝜃</m:t>
                        </m:r>
                      </m:e>
                      <m:sub>
                        <m:r>
                          <a:rPr lang="en-IN" b="0" i="1" smtClean="0">
                            <a:solidFill>
                              <a:schemeClr val="tx1"/>
                            </a:solidFill>
                            <a:latin typeface="Cambria Math" panose="02040503050406030204" pitchFamily="18" charset="0"/>
                          </a:rPr>
                          <m:t>1</m:t>
                        </m:r>
                      </m:sub>
                    </m:sSub>
                    <m:r>
                      <a:rPr lang="en-IN" b="0" i="1" smtClean="0">
                        <a:solidFill>
                          <a:schemeClr val="tx1"/>
                        </a:solidFill>
                        <a:latin typeface="Cambria Math" panose="02040503050406030204" pitchFamily="18" charset="0"/>
                      </a:rPr>
                      <m:t>,</m:t>
                    </m:r>
                    <m:sSub>
                      <m:sSubPr>
                        <m:ctrlPr>
                          <a:rPr lang="en-IN" b="0" i="1" smtClean="0">
                            <a:solidFill>
                              <a:schemeClr val="tx1"/>
                            </a:solidFill>
                            <a:latin typeface="Cambria Math" panose="02040503050406030204" pitchFamily="18" charset="0"/>
                            <a:ea typeface="Cambria Math" panose="02040503050406030204" pitchFamily="18" charset="0"/>
                          </a:rPr>
                        </m:ctrlPr>
                      </m:sSubPr>
                      <m:e>
                        <m:r>
                          <a:rPr lang="en-IN" b="0" i="1" smtClean="0">
                            <a:solidFill>
                              <a:schemeClr val="tx1"/>
                            </a:solidFill>
                            <a:latin typeface="Cambria Math" panose="02040503050406030204" pitchFamily="18" charset="0"/>
                            <a:ea typeface="Cambria Math" panose="02040503050406030204" pitchFamily="18" charset="0"/>
                          </a:rPr>
                          <m:t>𝜃</m:t>
                        </m:r>
                      </m:e>
                      <m:sub>
                        <m:r>
                          <a:rPr lang="en-IN" b="0" i="1" smtClean="0">
                            <a:solidFill>
                              <a:schemeClr val="tx1"/>
                            </a:solidFill>
                            <a:latin typeface="Cambria Math" panose="02040503050406030204" pitchFamily="18" charset="0"/>
                          </a:rPr>
                          <m:t>2</m:t>
                        </m:r>
                      </m:sub>
                    </m:sSub>
                  </m:oMath>
                </a14:m>
                <a:r>
                  <a:rPr lang="en-IN" dirty="0">
                    <a:solidFill>
                      <a:schemeClr val="tx1"/>
                    </a:solidFill>
                  </a:rPr>
                  <a:t> </a:t>
                </a:r>
                <a:r>
                  <a:rPr lang="en-IN" dirty="0">
                    <a:solidFill>
                      <a:schemeClr val="tx1"/>
                    </a:solidFill>
                    <a:latin typeface="Times New Roman" panose="02020603050405020304" pitchFamily="18" charset="0"/>
                    <a:cs typeface="Times New Roman" panose="02020603050405020304" pitchFamily="18" charset="0"/>
                  </a:rPr>
                  <a:t>are the model parameters.</a:t>
                </a:r>
              </a:p>
              <a:p>
                <a:pPr>
                  <a:lnSpc>
                    <a:spcPct val="107000"/>
                  </a:lnSpc>
                  <a:spcAft>
                    <a:spcPts val="800"/>
                  </a:spcAf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Hence the fitted model is given by,</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14:m>
                  <m:oMath xmlns:m="http://schemas.openxmlformats.org/officeDocument/2006/math">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𝜱</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m:t>
                            </m:r>
                          </m:sub>
                        </m:sSub>
                      </m:e>
                    </m:acc>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𝜱</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b>
                        </m:sSub>
                      </m:e>
                    </m:acc>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24</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 </a:t>
                </a:r>
                <a14:m>
                  <m:oMath xmlns:m="http://schemas.openxmlformats.org/officeDocument/2006/math">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𝝓</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acc>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𝝓</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b>
                        </m:sSub>
                      </m:e>
                    </m:acc>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(1-B) (1-</a:t>
                </a:r>
                <a:r>
                  <a:rPr lang="en-IN"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 </a:t>
                </a:r>
                <a14:m>
                  <m:oMath xmlns:m="http://schemas.openxmlformats.org/officeDocument/2006/math">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𝜣</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m:t>
                            </m:r>
                          </m:sub>
                        </m:sSub>
                      </m:e>
                    </m:acc>
                    <m:r>
                      <a:rPr lang="en-IN" b="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a:t>
                </a:r>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𝜽</m:t>
                            </m:r>
                          </m:e>
                          <m:sub>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m:t>
                            </m:r>
                          </m:sub>
                        </m:sSub>
                      </m:e>
                    </m:acc>
                    <m:r>
                      <a:rPr lang="en-IN"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14:m>
                  <m:oMath xmlns:m="http://schemas.openxmlformats.org/officeDocument/2006/math">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𝜽</m:t>
                            </m:r>
                          </m:e>
                          <m:sub>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𝟐</m:t>
                            </m:r>
                          </m:sub>
                        </m:sSub>
                      </m:e>
                    </m:acc>
                    <m:r>
                      <a:rPr lang="en-IN" b="1"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IN" b="1"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b="1" kern="100" baseline="30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b="1" kern="100" baseline="-25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endParaRPr lang="en-IN"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14:m>
                  <m:oMath xmlns:m="http://schemas.openxmlformats.org/officeDocument/2006/math">
                    <m:acc>
                      <m:accPr>
                        <m:chr m:val="̂"/>
                        <m:ctrlP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IN"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Φ</m:t>
                            </m:r>
                          </m:e>
                          <m:sub>
                            <m:r>
                              <a:rPr lang="en-IN"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e>
                    </m:acc>
                  </m:oMath>
                </a14:m>
                <a:r>
                  <a:rPr lang="en-IN"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-0.3317  ,   </a:t>
                </a:r>
                <a14:m>
                  <m:oMath xmlns:m="http://schemas.openxmlformats.org/officeDocument/2006/math">
                    <m:acc>
                      <m:accPr>
                        <m:chr m:val="̂"/>
                        <m:ctrlPr>
                          <a:rPr lang="en-IN" i="1" kern="100" smtClean="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IN"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IN"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Φ</m:t>
                            </m:r>
                          </m:e>
                          <m:sub>
                            <m:r>
                              <a:rPr lang="en-IN"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acc>
                  </m:oMath>
                </a14:m>
                <a:r>
                  <a:rPr lang="en-IN"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-0.2535 , </a:t>
                </a:r>
                <a:r>
                  <a:rPr lang="en-IN"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IN"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𝜙</m:t>
                            </m:r>
                          </m:e>
                          <m:sub>
                            <m:r>
                              <a:rPr lang="en-IN"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oMath>
                </a14:m>
                <a:r>
                  <a:rPr lang="en-IN"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-1.3285 , </a:t>
                </a:r>
                <a14:m>
                  <m:oMath xmlns:m="http://schemas.openxmlformats.org/officeDocument/2006/math">
                    <m:acc>
                      <m:accPr>
                        <m:chr m:val="̂"/>
                        <m:ctrlPr>
                          <a:rPr lang="en-IN" i="1" kern="100" smtClean="0">
                            <a:solidFill>
                              <a:schemeClr val="tx1"/>
                            </a:solidFill>
                            <a:effectLst/>
                            <a:latin typeface="Cambria Math" panose="02040503050406030204" pitchFamily="18" charset="0"/>
                            <a:cs typeface="Times New Roman" panose="02020603050405020304" pitchFamily="18" charset="0"/>
                          </a:rPr>
                        </m:ctrlPr>
                      </m:accPr>
                      <m:e>
                        <m:sSub>
                          <m:sSubPr>
                            <m:ctrlPr>
                              <a:rPr lang="en-IN"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IN"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𝜙</m:t>
                            </m:r>
                          </m:e>
                          <m:sub>
                            <m:r>
                              <a:rPr lang="en-IN" b="0" i="1" kern="100" smtClean="0">
                                <a:solidFill>
                                  <a:schemeClr val="tx1"/>
                                </a:solidFill>
                                <a:effectLst/>
                                <a:latin typeface="Cambria Math" panose="02040503050406030204" pitchFamily="18" charset="0"/>
                                <a:cs typeface="Times New Roman" panose="02020603050405020304" pitchFamily="18" charset="0"/>
                              </a:rPr>
                              <m:t>2</m:t>
                            </m:r>
                          </m:sub>
                        </m:sSub>
                      </m:e>
                    </m:acc>
                  </m:oMath>
                </a14:m>
                <a:r>
                  <a:rPr lang="en-IN" kern="100"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-0.8260</a:t>
                </a:r>
                <a:r>
                  <a:rPr lang="en-IN" kern="100" dirty="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a:t>   , </a:t>
                </a:r>
                <a14:m>
                  <m:oMath xmlns:m="http://schemas.openxmlformats.org/officeDocument/2006/math">
                    <m:acc>
                      <m:accPr>
                        <m:chr m:val="̂"/>
                        <m:ctrlPr>
                          <a:rPr lang="en-IN" i="1">
                            <a:solidFill>
                              <a:schemeClr val="tx1"/>
                            </a:solidFill>
                            <a:latin typeface="Cambria Math" panose="02040503050406030204" pitchFamily="18" charset="0"/>
                          </a:rPr>
                        </m:ctrlPr>
                      </m:accPr>
                      <m:e>
                        <m:sSub>
                          <m:sSubPr>
                            <m:ctrlPr>
                              <a:rPr lang="en-IN">
                                <a:solidFill>
                                  <a:schemeClr val="tx1"/>
                                </a:solidFill>
                                <a:latin typeface="Cambria Math" panose="02040503050406030204" pitchFamily="18" charset="0"/>
                              </a:rPr>
                            </m:ctrlPr>
                          </m:sSubPr>
                          <m:e>
                            <m:r>
                              <m:rPr>
                                <m:sty m:val="p"/>
                              </m:rPr>
                              <a:rPr lang="en-IN">
                                <a:solidFill>
                                  <a:schemeClr val="tx1"/>
                                </a:solidFill>
                                <a:latin typeface="Cambria Math" panose="02040503050406030204" pitchFamily="18" charset="0"/>
                              </a:rPr>
                              <m:t>Θ</m:t>
                            </m:r>
                          </m:e>
                          <m:sub>
                            <m:r>
                              <a:rPr lang="en-IN" i="1">
                                <a:solidFill>
                                  <a:schemeClr val="tx1"/>
                                </a:solidFill>
                                <a:latin typeface="Cambria Math" panose="02040503050406030204" pitchFamily="18" charset="0"/>
                              </a:rPr>
                              <m:t>1</m:t>
                            </m:r>
                          </m:sub>
                        </m:sSub>
                      </m:e>
                    </m:acc>
                  </m:oMath>
                </a14:m>
                <a:r>
                  <a:rPr lang="en-IN" baseline="-25000" dirty="0">
                    <a:solidFill>
                      <a:schemeClr val="tx1"/>
                    </a:solidFill>
                  </a:rPr>
                  <a:t> </a:t>
                </a:r>
                <a:r>
                  <a:rPr lang="en-IN" dirty="0">
                    <a:solidFill>
                      <a:schemeClr val="tx1"/>
                    </a:solidFill>
                  </a:rPr>
                  <a:t> </a:t>
                </a:r>
                <a:r>
                  <a:rPr lang="en-IN" dirty="0">
                    <a:solidFill>
                      <a:schemeClr val="tx1"/>
                    </a:solidFill>
                    <a:latin typeface="Times New Roman" panose="02020603050405020304" pitchFamily="18" charset="0"/>
                    <a:cs typeface="Times New Roman" panose="02020603050405020304" pitchFamily="18" charset="0"/>
                  </a:rPr>
                  <a:t>=  -0.5115 </a:t>
                </a:r>
              </a:p>
              <a:p>
                <a:pPr marL="0" indent="0">
                  <a:buNone/>
                </a:pPr>
                <a14:m>
                  <m:oMath xmlns:m="http://schemas.openxmlformats.org/officeDocument/2006/math">
                    <m:acc>
                      <m:accPr>
                        <m:chr m:val="̂"/>
                        <m:ctrlPr>
                          <a:rPr lang="en-IN"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IN"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IN"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oMath>
                </a14:m>
                <a:r>
                  <a:rPr lang="en-IN" dirty="0">
                    <a:solidFill>
                      <a:schemeClr val="tx1"/>
                    </a:solidFill>
                    <a:effectLst/>
                    <a:latin typeface="Times New Roman" panose="02020603050405020304" pitchFamily="18" charset="0"/>
                    <a:ea typeface="Times New Roman" panose="02020603050405020304" pitchFamily="18" charset="0"/>
                  </a:rPr>
                  <a:t>= 1.4546   , </a:t>
                </a:r>
                <a:r>
                  <a:rPr lang="en-IN" dirty="0">
                    <a:solidFill>
                      <a:schemeClr val="tx1"/>
                    </a:solidFill>
                  </a:rPr>
                  <a:t>  </a:t>
                </a:r>
                <a14:m>
                  <m:oMath xmlns:m="http://schemas.openxmlformats.org/officeDocument/2006/math">
                    <m:acc>
                      <m:accPr>
                        <m:chr m:val="̂"/>
                        <m:ctrlPr>
                          <a:rPr lang="en-IN" i="1">
                            <a:solidFill>
                              <a:schemeClr val="tx1"/>
                            </a:solidFill>
                            <a:latin typeface="Cambria Math" panose="02040503050406030204" pitchFamily="18" charset="0"/>
                          </a:rPr>
                        </m:ctrlPr>
                      </m:accPr>
                      <m:e>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𝜃</m:t>
                            </m:r>
                          </m:e>
                          <m:sub>
                            <m:r>
                              <a:rPr lang="en-IN" i="1">
                                <a:solidFill>
                                  <a:schemeClr val="tx1"/>
                                </a:solidFill>
                                <a:latin typeface="Cambria Math" panose="02040503050406030204" pitchFamily="18" charset="0"/>
                              </a:rPr>
                              <m:t>2</m:t>
                            </m:r>
                          </m:sub>
                        </m:sSub>
                      </m:e>
                    </m:acc>
                  </m:oMath>
                </a14:m>
                <a:r>
                  <a:rPr lang="en-IN" dirty="0">
                    <a:solidFill>
                      <a:schemeClr val="tx1"/>
                    </a:solidFill>
                    <a:latin typeface="Times New Roman" panose="02020603050405020304" pitchFamily="18" charset="0"/>
                    <a:cs typeface="Times New Roman" panose="02020603050405020304" pitchFamily="18" charset="0"/>
                  </a:rPr>
                  <a:t> =   1.000</a:t>
                </a:r>
              </a:p>
              <a:p>
                <a:pPr marL="914400">
                  <a:lnSpc>
                    <a:spcPct val="107000"/>
                  </a:lnSpc>
                  <a:buNone/>
                </a:pPr>
                <a:endParaRPr lang="en-IN" dirty="0">
                  <a:latin typeface="Times New Roman" panose="02020603050405020304" pitchFamily="18" charset="0"/>
                  <a:cs typeface="Times New Roman" panose="02020603050405020304" pitchFamily="18" charset="0"/>
                </a:endParaRPr>
              </a:p>
              <a:p>
                <a:pPr marL="914400">
                  <a:lnSpc>
                    <a:spcPct val="107000"/>
                  </a:lnSpc>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a:lnSpc>
                    <a:spcPct val="107000"/>
                  </a:lnSpc>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24CA1B7D-E45C-B8BE-423C-5D8510CE089E}"/>
                  </a:ext>
                </a:extLst>
              </p:cNvPr>
              <p:cNvSpPr>
                <a:spLocks noGrp="1" noRot="1" noChangeAspect="1" noMove="1" noResize="1" noEditPoints="1" noAdjustHandles="1" noChangeArrowheads="1" noChangeShapeType="1" noTextEdit="1"/>
              </p:cNvSpPr>
              <p:nvPr>
                <p:ph idx="1"/>
              </p:nvPr>
            </p:nvSpPr>
            <p:spPr>
              <a:xfrm>
                <a:off x="677333" y="576942"/>
                <a:ext cx="10632923" cy="5736772"/>
              </a:xfrm>
              <a:blipFill>
                <a:blip r:embed="rId2"/>
                <a:stretch>
                  <a:fillRect l="-516" t="-638" r="-1032" b="-2444"/>
                </a:stretch>
              </a:blipFill>
            </p:spPr>
            <p:txBody>
              <a:bodyPr/>
              <a:lstStyle/>
              <a:p>
                <a:r>
                  <a:rPr lang="en-IN">
                    <a:noFill/>
                  </a:rPr>
                  <a:t> </a:t>
                </a:r>
              </a:p>
            </p:txBody>
          </p:sp>
        </mc:Fallback>
      </mc:AlternateContent>
    </p:spTree>
    <p:extLst>
      <p:ext uri="{BB962C8B-B14F-4D97-AF65-F5344CB8AC3E}">
        <p14:creationId xmlns:p14="http://schemas.microsoft.com/office/powerpoint/2010/main" val="1620731946"/>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6A3F9-EA45-4C92-A08A-E62BB4D5C448}"/>
              </a:ext>
            </a:extLst>
          </p:cNvPr>
          <p:cNvSpPr>
            <a:spLocks noGrp="1"/>
          </p:cNvSpPr>
          <p:nvPr>
            <p:ph type="title"/>
          </p:nvPr>
        </p:nvSpPr>
        <p:spPr>
          <a:xfrm>
            <a:off x="913795" y="391887"/>
            <a:ext cx="10353761" cy="903513"/>
          </a:xfrm>
        </p:spPr>
        <p:txBody>
          <a:bodyPr>
            <a:normAutofit/>
          </a:bodyPr>
          <a:lstStyle/>
          <a:p>
            <a:r>
              <a:rPr lang="en-IN" sz="2800" u="sng" dirty="0">
                <a:solidFill>
                  <a:schemeClr val="accent5">
                    <a:lumMod val="20000"/>
                    <a:lumOff val="80000"/>
                  </a:schemeClr>
                </a:solidFill>
              </a:rPr>
              <a:t>Testing of goodness of fit</a:t>
            </a:r>
          </a:p>
        </p:txBody>
      </p:sp>
      <p:sp>
        <p:nvSpPr>
          <p:cNvPr id="3" name="Content Placeholder 2">
            <a:extLst>
              <a:ext uri="{FF2B5EF4-FFF2-40B4-BE49-F238E27FC236}">
                <a16:creationId xmlns:a16="http://schemas.microsoft.com/office/drawing/2014/main" id="{ECCD4739-9920-1557-4FAB-8C8BF805D998}"/>
              </a:ext>
            </a:extLst>
          </p:cNvPr>
          <p:cNvSpPr>
            <a:spLocks noGrp="1"/>
          </p:cNvSpPr>
          <p:nvPr>
            <p:ph sz="half" idx="1"/>
          </p:nvPr>
        </p:nvSpPr>
        <p:spPr>
          <a:xfrm>
            <a:off x="677334" y="1632856"/>
            <a:ext cx="5157410" cy="4408505"/>
          </a:xfrm>
        </p:spPr>
        <p:txBody>
          <a:bodyPr>
            <a:normAutofit fontScale="92500" lnSpcReduction="10000"/>
          </a:bodyPr>
          <a:lstStyle/>
          <a:p>
            <a:r>
              <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plot the residuals obtained due to this fit, i.e., the model residual series.</a:t>
            </a:r>
          </a:p>
          <a:p>
            <a:endPar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IN" sz="1800" dirty="0">
                <a:solidFill>
                  <a:schemeClr val="tx1"/>
                </a:solidFill>
                <a:effectLst/>
                <a:latin typeface="Times New Roman" panose="02020603050405020304" pitchFamily="18" charset="0"/>
                <a:ea typeface="Times New Roman" panose="02020603050405020304" pitchFamily="18" charset="0"/>
              </a:rPr>
              <a:t>On visual inspection the residual series seems to be random.</a:t>
            </a:r>
            <a:endPar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
        <p:nvSpPr>
          <p:cNvPr id="5" name="Content Placeholder 4">
            <a:extLst>
              <a:ext uri="{FF2B5EF4-FFF2-40B4-BE49-F238E27FC236}">
                <a16:creationId xmlns:a16="http://schemas.microsoft.com/office/drawing/2014/main" id="{72931433-2295-D7BA-C033-7807513C9C8C}"/>
              </a:ext>
            </a:extLst>
          </p:cNvPr>
          <p:cNvSpPr>
            <a:spLocks noGrp="1"/>
          </p:cNvSpPr>
          <p:nvPr>
            <p:ph sz="half" idx="2"/>
          </p:nvPr>
        </p:nvSpPr>
        <p:spPr>
          <a:xfrm>
            <a:off x="6357257" y="1632856"/>
            <a:ext cx="5050972" cy="4757057"/>
          </a:xfrm>
        </p:spPr>
        <p:txBody>
          <a:bodyPr>
            <a:normAutofit fontScale="92500" lnSpcReduction="10000"/>
          </a:bodyPr>
          <a:lstStyle/>
          <a:p>
            <a:r>
              <a:rPr lang="en-IN" sz="1800" dirty="0">
                <a:solidFill>
                  <a:schemeClr val="tx1"/>
                </a:solidFill>
                <a:effectLst/>
                <a:latin typeface="Times New Roman" panose="02020603050405020304" pitchFamily="18" charset="0"/>
                <a:ea typeface="Times New Roman" panose="02020603050405020304" pitchFamily="18" charset="0"/>
              </a:rPr>
              <a:t>To confirm our finding, we check for randomness of model residual series using the Ljung-Box test. We take α = 0.05. The results of the test are given by,</a:t>
            </a:r>
          </a:p>
          <a:p>
            <a:endParaRPr lang="en-IN" dirty="0">
              <a:solidFill>
                <a:schemeClr val="tx1"/>
              </a:solidFill>
              <a:latin typeface="Times New Roman" panose="02020603050405020304" pitchFamily="18" charset="0"/>
              <a:ea typeface="Times New Roman" panose="02020603050405020304" pitchFamily="18" charset="0"/>
            </a:endParaRPr>
          </a:p>
          <a:p>
            <a:endParaRPr lang="en-IN" sz="1800" dirty="0">
              <a:solidFill>
                <a:schemeClr val="tx1"/>
              </a:solidFill>
              <a:effectLst/>
              <a:latin typeface="Times New Roman" panose="02020603050405020304" pitchFamily="18" charset="0"/>
              <a:ea typeface="Times New Roman" panose="02020603050405020304" pitchFamily="18" charset="0"/>
            </a:endParaRPr>
          </a:p>
          <a:p>
            <a:endParaRPr lang="en-IN" dirty="0">
              <a:solidFill>
                <a:schemeClr val="tx1"/>
              </a:solidFill>
              <a:latin typeface="Times New Roman" panose="02020603050405020304" pitchFamily="18" charset="0"/>
              <a:ea typeface="Times New Roman" panose="02020603050405020304" pitchFamily="18" charset="0"/>
            </a:endParaRPr>
          </a:p>
          <a:p>
            <a:endParaRPr lang="en-IN" sz="1800" dirty="0">
              <a:solidFill>
                <a:schemeClr val="tx1"/>
              </a:solidFill>
              <a:effectLst/>
              <a:latin typeface="Times New Roman" panose="02020603050405020304" pitchFamily="18" charset="0"/>
              <a:ea typeface="Times New Roman" panose="02020603050405020304" pitchFamily="18" charset="0"/>
            </a:endParaRPr>
          </a:p>
          <a:p>
            <a:endParaRPr lang="en-IN" sz="1800" dirty="0">
              <a:effectLst/>
              <a:latin typeface="Times New Roman" panose="02020603050405020304" pitchFamily="18" charset="0"/>
              <a:ea typeface="Times New Roman" panose="02020603050405020304" pitchFamily="18" charset="0"/>
            </a:endParaRPr>
          </a:p>
          <a:p>
            <a:endParaRPr lang="en-IN" sz="1800" dirty="0">
              <a:solidFill>
                <a:schemeClr val="tx1"/>
              </a:solidFill>
              <a:effectLst/>
              <a:latin typeface="Times New Roman" panose="02020603050405020304" pitchFamily="18" charset="0"/>
              <a:ea typeface="Times New Roman" panose="02020603050405020304" pitchFamily="18" charset="0"/>
            </a:endParaRPr>
          </a:p>
          <a:p>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As the p-value = </a:t>
            </a:r>
            <a:r>
              <a:rPr lang="en-IN"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0.1148,</a:t>
            </a: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which is greater than </a:t>
            </a:r>
            <a:r>
              <a:rPr lang="en-IN"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0.05</a:t>
            </a: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we accept H</a:t>
            </a:r>
            <a:r>
              <a:rPr lang="en-IN" sz="18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5% level of significance indicating the residual series is random.</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Times New Roman" panose="02020603050405020304" pitchFamily="18"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C7EF0B89-30DE-04C4-31EE-E8555AAD6CE0}"/>
              </a:ext>
            </a:extLst>
          </p:cNvPr>
          <p:cNvPicPr>
            <a:picLocks noChangeAspect="1"/>
          </p:cNvPicPr>
          <p:nvPr/>
        </p:nvPicPr>
        <p:blipFill>
          <a:blip r:embed="rId2"/>
          <a:stretch>
            <a:fillRect/>
          </a:stretch>
        </p:blipFill>
        <p:spPr>
          <a:xfrm>
            <a:off x="1206354" y="2688757"/>
            <a:ext cx="4099369" cy="2111829"/>
          </a:xfrm>
          <a:prstGeom prst="rect">
            <a:avLst/>
          </a:prstGeom>
        </p:spPr>
      </p:pic>
      <p:graphicFrame>
        <p:nvGraphicFramePr>
          <p:cNvPr id="6" name="Table 5">
            <a:extLst>
              <a:ext uri="{FF2B5EF4-FFF2-40B4-BE49-F238E27FC236}">
                <a16:creationId xmlns:a16="http://schemas.microsoft.com/office/drawing/2014/main" id="{303504DF-ED60-FDC1-A21F-1113FECB7BD3}"/>
              </a:ext>
            </a:extLst>
          </p:cNvPr>
          <p:cNvGraphicFramePr>
            <a:graphicFrameLocks noGrp="1"/>
          </p:cNvGraphicFramePr>
          <p:nvPr>
            <p:extLst>
              <p:ext uri="{D42A27DB-BD31-4B8C-83A1-F6EECF244321}">
                <p14:modId xmlns:p14="http://schemas.microsoft.com/office/powerpoint/2010/main" val="930196515"/>
              </p:ext>
            </p:extLst>
          </p:nvPr>
        </p:nvGraphicFramePr>
        <p:xfrm>
          <a:off x="6729331" y="2949054"/>
          <a:ext cx="4256315" cy="1776108"/>
        </p:xfrm>
        <a:graphic>
          <a:graphicData uri="http://schemas.openxmlformats.org/drawingml/2006/table">
            <a:tbl>
              <a:tblPr>
                <a:tableStyleId>{5C22544A-7EE6-4342-B048-85BDC9FD1C3A}</a:tableStyleId>
              </a:tblPr>
              <a:tblGrid>
                <a:gridCol w="4256315">
                  <a:extLst>
                    <a:ext uri="{9D8B030D-6E8A-4147-A177-3AD203B41FA5}">
                      <a16:colId xmlns:a16="http://schemas.microsoft.com/office/drawing/2014/main" val="1162926075"/>
                    </a:ext>
                  </a:extLst>
                </a:gridCol>
              </a:tblGrid>
              <a:tr h="1776108">
                <a:tc>
                  <a:txBody>
                    <a:bodyPr/>
                    <a:lstStyle/>
                    <a:p>
                      <a:pPr marL="228600">
                        <a:lnSpc>
                          <a:spcPct val="107000"/>
                        </a:lnSpc>
                        <a:spcAft>
                          <a:spcPts val="800"/>
                        </a:spcAft>
                        <a:buNone/>
                      </a:pPr>
                      <a:r>
                        <a:rPr lang="en-IN" sz="1200" kern="100" dirty="0">
                          <a:effectLst/>
                        </a:rPr>
                        <a:t> </a:t>
                      </a:r>
                      <a:endParaRPr lang="en-IN" sz="1100" kern="100" dirty="0">
                        <a:effectLst/>
                      </a:endParaRPr>
                    </a:p>
                    <a:p>
                      <a:pPr marL="228600">
                        <a:lnSpc>
                          <a:spcPct val="107000"/>
                        </a:lnSpc>
                        <a:spcAft>
                          <a:spcPts val="800"/>
                        </a:spcAft>
                        <a:buNone/>
                      </a:pPr>
                      <a:r>
                        <a:rPr lang="en-IN" sz="1200" kern="100" dirty="0">
                          <a:effectLst/>
                        </a:rPr>
                        <a:t>Box-Ljung test</a:t>
                      </a:r>
                      <a:endParaRPr lang="en-IN" sz="1100" kern="100" dirty="0">
                        <a:effectLst/>
                      </a:endParaRPr>
                    </a:p>
                    <a:p>
                      <a:pPr>
                        <a:lnSpc>
                          <a:spcPct val="107000"/>
                        </a:lnSpc>
                        <a:spcAft>
                          <a:spcPts val="800"/>
                        </a:spcAft>
                        <a:buNone/>
                      </a:pPr>
                      <a:r>
                        <a:rPr lang="en-IN" sz="1200" kern="100" dirty="0">
                          <a:effectLst/>
                        </a:rPr>
                        <a:t>      data:  </a:t>
                      </a:r>
                      <a:r>
                        <a:rPr lang="en-IN" sz="1200" kern="100" dirty="0" err="1">
                          <a:effectLst/>
                        </a:rPr>
                        <a:t>model$residuals</a:t>
                      </a:r>
                      <a:endParaRPr lang="en-IN" sz="1100" kern="100" dirty="0">
                        <a:effectLst/>
                      </a:endParaRPr>
                    </a:p>
                    <a:p>
                      <a:pPr marL="228600">
                        <a:lnSpc>
                          <a:spcPct val="107000"/>
                        </a:lnSpc>
                        <a:spcAft>
                          <a:spcPts val="800"/>
                        </a:spcAft>
                        <a:buNone/>
                      </a:pPr>
                      <a:r>
                        <a:rPr lang="en-IN" sz="1200" kern="100" dirty="0">
                          <a:effectLst/>
                        </a:rPr>
                        <a:t>X-squared = 28.968, </a:t>
                      </a:r>
                      <a:r>
                        <a:rPr lang="en-IN" sz="1200" kern="100" dirty="0" err="1">
                          <a:effectLst/>
                        </a:rPr>
                        <a:t>df</a:t>
                      </a:r>
                      <a:r>
                        <a:rPr lang="en-IN" sz="1200" kern="100" dirty="0">
                          <a:effectLst/>
                        </a:rPr>
                        <a:t> = 21, p-value = 0.1148</a:t>
                      </a:r>
                      <a:endParaRPr lang="en-IN" sz="1100" kern="100" dirty="0">
                        <a:effectLst/>
                      </a:endParaRPr>
                    </a:p>
                    <a:p>
                      <a:pPr>
                        <a:lnSpc>
                          <a:spcPct val="107000"/>
                        </a:lnSpc>
                        <a:spcAft>
                          <a:spcPts val="800"/>
                        </a:spcAft>
                        <a:buNone/>
                      </a:pPr>
                      <a:r>
                        <a:rPr lang="en-IN" sz="1200" kern="100" dirty="0">
                          <a:effectLst/>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2635233"/>
                  </a:ext>
                </a:extLst>
              </a:tr>
            </a:tbl>
          </a:graphicData>
        </a:graphic>
      </p:graphicFrame>
    </p:spTree>
    <p:extLst>
      <p:ext uri="{BB962C8B-B14F-4D97-AF65-F5344CB8AC3E}">
        <p14:creationId xmlns:p14="http://schemas.microsoft.com/office/powerpoint/2010/main" val="120543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8" end="8"/>
                                            </p:txEl>
                                          </p:spTgt>
                                        </p:tgtEl>
                                        <p:attrNameLst>
                                          <p:attrName>style.visibility</p:attrName>
                                        </p:attrNameLst>
                                      </p:cBhvr>
                                      <p:to>
                                        <p:strVal val="visible"/>
                                      </p:to>
                                    </p:set>
                                    <p:animEffect transition="in" filter="fade">
                                      <p:cBhvr>
                                        <p:cTn id="14" dur="1000"/>
                                        <p:tgtEl>
                                          <p:spTgt spid="3">
                                            <p:txEl>
                                              <p:pRg st="8" end="8"/>
                                            </p:txEl>
                                          </p:spTgt>
                                        </p:tgtEl>
                                      </p:cBhvr>
                                    </p:animEffect>
                                    <p:anim calcmode="lin" valueType="num">
                                      <p:cBhvr>
                                        <p:cTn id="1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500"/>
                                        <p:tgtEl>
                                          <p:spTgt spid="5">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750"/>
                                        <p:tgtEl>
                                          <p:spTgt spid="5">
                                            <p:txEl>
                                              <p:pRg st="7" end="7"/>
                                            </p:txEl>
                                          </p:spTgt>
                                        </p:tgtEl>
                                      </p:cBhvr>
                                    </p:animEffect>
                                    <p:anim calcmode="lin" valueType="num">
                                      <p:cBhvr>
                                        <p:cTn id="30" dur="75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1" dur="75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D396C9-DC9C-7942-0802-1E9CCC47F6D4}"/>
              </a:ext>
            </a:extLst>
          </p:cNvPr>
          <p:cNvSpPr>
            <a:spLocks noGrp="1"/>
          </p:cNvSpPr>
          <p:nvPr>
            <p:ph type="title"/>
          </p:nvPr>
        </p:nvSpPr>
        <p:spPr>
          <a:xfrm>
            <a:off x="1728117" y="283029"/>
            <a:ext cx="8596668" cy="756557"/>
          </a:xfrm>
        </p:spPr>
        <p:txBody>
          <a:bodyPr>
            <a:normAutofit/>
          </a:bodyPr>
          <a:lstStyle/>
          <a:p>
            <a:r>
              <a:rPr lang="en-IN" sz="2800" u="sng" dirty="0">
                <a:solidFill>
                  <a:schemeClr val="accent5">
                    <a:lumMod val="20000"/>
                    <a:lumOff val="80000"/>
                  </a:schemeClr>
                </a:solidFill>
              </a:rPr>
              <a:t>Forecasting</a:t>
            </a:r>
          </a:p>
        </p:txBody>
      </p:sp>
      <p:sp>
        <p:nvSpPr>
          <p:cNvPr id="6" name="Content Placeholder 5">
            <a:extLst>
              <a:ext uri="{FF2B5EF4-FFF2-40B4-BE49-F238E27FC236}">
                <a16:creationId xmlns:a16="http://schemas.microsoft.com/office/drawing/2014/main" id="{887DE6A5-727D-021C-3077-4F23FB123293}"/>
              </a:ext>
            </a:extLst>
          </p:cNvPr>
          <p:cNvSpPr>
            <a:spLocks noGrp="1"/>
          </p:cNvSpPr>
          <p:nvPr>
            <p:ph idx="1"/>
          </p:nvPr>
        </p:nvSpPr>
        <p:spPr>
          <a:xfrm>
            <a:off x="677333" y="1306286"/>
            <a:ext cx="10698237" cy="5410200"/>
          </a:xfrm>
        </p:spPr>
        <p:txBody>
          <a:bodyPr>
            <a:normAutofit fontScale="85000" lnSpcReduction="20000"/>
          </a:bodyPr>
          <a:lstStyle/>
          <a:p>
            <a:r>
              <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use the </a:t>
            </a:r>
            <a:r>
              <a:rPr lang="en-IN" sz="19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ARIMA(2,1,2)×(2,1,1)</a:t>
            </a:r>
            <a:r>
              <a:rPr lang="en-IN" sz="1900" b="1"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 </a:t>
            </a:r>
            <a:r>
              <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model fitted above to forecast the values corresponding to the testing set comprising of data from October 1969 to December 1978. We plot the test data and the corresponding forecasts for monthly production index on the same graph.</a:t>
            </a:r>
          </a:p>
          <a:p>
            <a:endParaRPr lang="en-IN" sz="1900"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900" kern="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28600">
              <a:lnSpc>
                <a:spcPct val="107000"/>
              </a:lnSpc>
              <a:spcAft>
                <a:spcPts val="800"/>
              </a:spcAft>
              <a:buNone/>
            </a:pPr>
            <a:r>
              <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forecasts appear to be quite close to the original data </a:t>
            </a:r>
            <a:r>
              <a:rPr lang="en-IN"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hence by using this model we can easily forecast the production index for future timepoints.</a:t>
            </a:r>
            <a:endParaRPr lang="en-IN"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IN" sz="1900" dirty="0">
                <a:solidFill>
                  <a:schemeClr val="tx1"/>
                </a:solidFill>
                <a:effectLst/>
                <a:latin typeface="Times New Roman" panose="02020603050405020304" pitchFamily="18" charset="0"/>
                <a:ea typeface="Calibri" panose="020F0502020204030204" pitchFamily="34" charset="0"/>
              </a:rPr>
              <a:t>This also indicates that there is an increasing trend in the production index if proper business planning is undertaken.</a:t>
            </a:r>
            <a:r>
              <a:rPr lang="en-IN" sz="1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IN" sz="1900" dirty="0">
                <a:solidFill>
                  <a:schemeClr val="tx1"/>
                </a:solidFill>
                <a:effectLst/>
                <a:latin typeface="Times New Roman" panose="02020603050405020304" pitchFamily="18" charset="0"/>
                <a:ea typeface="Calibri" panose="020F0502020204030204" pitchFamily="34" charset="0"/>
              </a:rPr>
              <a:t>Thus, a study of a long-term production data helps us to forecast the production for future timepoints. </a:t>
            </a:r>
            <a:endParaRPr lang="en-IN" sz="19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D501536E-2B6D-77F7-9444-DCBAE7EA1151}"/>
              </a:ext>
            </a:extLst>
          </p:cNvPr>
          <p:cNvPicPr>
            <a:picLocks noChangeAspect="1"/>
          </p:cNvPicPr>
          <p:nvPr/>
        </p:nvPicPr>
        <p:blipFill>
          <a:blip r:embed="rId2"/>
          <a:stretch>
            <a:fillRect/>
          </a:stretch>
        </p:blipFill>
        <p:spPr>
          <a:xfrm>
            <a:off x="3208183" y="2394857"/>
            <a:ext cx="5636536" cy="2416628"/>
          </a:xfrm>
          <a:prstGeom prst="rect">
            <a:avLst/>
          </a:prstGeom>
        </p:spPr>
      </p:pic>
    </p:spTree>
    <p:extLst>
      <p:ext uri="{BB962C8B-B14F-4D97-AF65-F5344CB8AC3E}">
        <p14:creationId xmlns:p14="http://schemas.microsoft.com/office/powerpoint/2010/main" val="178377808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F220-C682-C14C-81E5-8103D947DDF7}"/>
              </a:ext>
            </a:extLst>
          </p:cNvPr>
          <p:cNvSpPr>
            <a:spLocks noGrp="1"/>
          </p:cNvSpPr>
          <p:nvPr>
            <p:ph type="title"/>
          </p:nvPr>
        </p:nvSpPr>
        <p:spPr>
          <a:xfrm>
            <a:off x="1559077" y="468086"/>
            <a:ext cx="8596668" cy="751113"/>
          </a:xfrm>
        </p:spPr>
        <p:txBody>
          <a:bodyPr>
            <a:normAutofit/>
          </a:bodyPr>
          <a:lstStyle/>
          <a:p>
            <a:r>
              <a:rPr lang="en-IN" sz="2800" u="sng" dirty="0">
                <a:solidFill>
                  <a:schemeClr val="accent5">
                    <a:lumMod val="20000"/>
                    <a:lumOff val="80000"/>
                  </a:schemeClr>
                </a:solidFill>
              </a:rPr>
              <a:t>Future scope of study</a:t>
            </a:r>
          </a:p>
        </p:txBody>
      </p:sp>
      <p:sp>
        <p:nvSpPr>
          <p:cNvPr id="3" name="Content Placeholder 2">
            <a:extLst>
              <a:ext uri="{FF2B5EF4-FFF2-40B4-BE49-F238E27FC236}">
                <a16:creationId xmlns:a16="http://schemas.microsoft.com/office/drawing/2014/main" id="{9621E1E0-BE6D-0B9D-2102-521B697F2132}"/>
              </a:ext>
            </a:extLst>
          </p:cNvPr>
          <p:cNvSpPr>
            <a:spLocks noGrp="1"/>
          </p:cNvSpPr>
          <p:nvPr>
            <p:ph idx="1"/>
          </p:nvPr>
        </p:nvSpPr>
        <p:spPr>
          <a:xfrm>
            <a:off x="913795" y="2096063"/>
            <a:ext cx="10353762" cy="3814879"/>
          </a:xfrm>
        </p:spPr>
        <p:txBody>
          <a:bodyPr/>
          <a:lstStyle/>
          <a:p>
            <a:r>
              <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further scope of study in fitting SARIMA models to industrial production data includes several advanced areas for research and improvement.</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can also incorporate the idea of Machine Learning for better prediction</a:t>
            </a:r>
            <a:r>
              <a:rPr lang="en-IN" sz="18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performance.</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8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may combine SARIMA with GARCH to model volatility in production and SARIMA with Neural Networks for capturing nonlinear patterns.</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8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may also check the points where the shift in trend is detected.</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8657945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3359-F0D6-93DB-E634-CE71CA327E08}"/>
              </a:ext>
            </a:extLst>
          </p:cNvPr>
          <p:cNvSpPr>
            <a:spLocks noGrp="1"/>
          </p:cNvSpPr>
          <p:nvPr>
            <p:ph type="title"/>
          </p:nvPr>
        </p:nvSpPr>
        <p:spPr>
          <a:xfrm>
            <a:off x="1471095" y="598713"/>
            <a:ext cx="8596668" cy="566057"/>
          </a:xfrm>
        </p:spPr>
        <p:txBody>
          <a:bodyPr>
            <a:normAutofit/>
          </a:bodyPr>
          <a:lstStyle/>
          <a:p>
            <a:r>
              <a:rPr lang="en-IN" sz="2800" u="sng" dirty="0">
                <a:solidFill>
                  <a:schemeClr val="accent5">
                    <a:lumMod val="20000"/>
                    <a:lumOff val="80000"/>
                  </a:schemeClr>
                </a:solidFill>
              </a:rPr>
              <a:t>References</a:t>
            </a:r>
          </a:p>
        </p:txBody>
      </p:sp>
      <p:sp>
        <p:nvSpPr>
          <p:cNvPr id="3" name="Content Placeholder 2">
            <a:extLst>
              <a:ext uri="{FF2B5EF4-FFF2-40B4-BE49-F238E27FC236}">
                <a16:creationId xmlns:a16="http://schemas.microsoft.com/office/drawing/2014/main" id="{48B2FF98-23CD-F5E2-36FF-1BDF1FABD6A6}"/>
              </a:ext>
            </a:extLst>
          </p:cNvPr>
          <p:cNvSpPr>
            <a:spLocks noGrp="1"/>
          </p:cNvSpPr>
          <p:nvPr>
            <p:ph idx="1"/>
          </p:nvPr>
        </p:nvSpPr>
        <p:spPr>
          <a:xfrm>
            <a:off x="677334" y="1926772"/>
            <a:ext cx="8596668" cy="4049486"/>
          </a:xfrm>
        </p:spPr>
        <p:txBody>
          <a:bodyPr>
            <a:normAutofit/>
          </a:bodyPr>
          <a:lstStyle/>
          <a:p>
            <a:pPr>
              <a:lnSpc>
                <a:spcPct val="107000"/>
              </a:lnSpc>
            </a:pPr>
            <a:r>
              <a:rPr lang="en-IN" sz="1800" u="sng"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https://www.machinelearningplus.com/time-series/augmented-dickey-fuller-test/</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buNone/>
            </a:pPr>
            <a:r>
              <a:rPr lang="en-IN" sz="1800"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IN" sz="1800" u="sng"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https://medium.com/@ritusantra/introduction-to-sarima-model-cbb885ceabe8</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IN" sz="1800" u="sng"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https://people.stat.sc.edu/hitchcock/stat520ch6slides.pdf</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buNone/>
            </a:pPr>
            <a:r>
              <a:rPr lang="en-IN" sz="1800"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IN" sz="1800" u="sng"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https://rucore.libraries.rutgers.edu/rutgers-lib/34211/PDF/1/play/</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u="sng" kern="100" dirty="0">
                <a:solidFill>
                  <a:schemeClr val="accent6">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https://online.stat.psu.edu/stat510/lesson/3/3.2</a:t>
            </a:r>
            <a:endParaRPr lang="en-IN" sz="1800" kern="100" dirty="0">
              <a:solidFill>
                <a:schemeClr val="accent6">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41321480"/>
      </p:ext>
    </p:extLst>
  </p:cSld>
  <p:clrMapOvr>
    <a:masterClrMapping/>
  </p:clrMapOvr>
  <mc:AlternateContent xmlns:mc="http://schemas.openxmlformats.org/markup-compatibility/2006" xmlns:p14="http://schemas.microsoft.com/office/powerpoint/2010/main">
    <mc:Choice Requires="p14">
      <p:transition spd="slow" p14:dur="1250">
        <p:wipe/>
      </p:transition>
    </mc:Choice>
    <mc:Fallback xmlns="">
      <p:transition spd="slow">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106316-069C-DC90-70DD-42D84019780C}"/>
              </a:ext>
            </a:extLst>
          </p:cNvPr>
          <p:cNvSpPr>
            <a:spLocks noGrp="1"/>
          </p:cNvSpPr>
          <p:nvPr>
            <p:ph idx="1"/>
          </p:nvPr>
        </p:nvSpPr>
        <p:spPr>
          <a:xfrm>
            <a:off x="1797666" y="914504"/>
            <a:ext cx="8596668" cy="5028991"/>
          </a:xfrm>
        </p:spPr>
        <p:txBody>
          <a:bodyPr/>
          <a:lstStyle/>
          <a:p>
            <a:pPr marL="0" indent="0" algn="ctr">
              <a:buNone/>
            </a:pPr>
            <a:endParaRPr lang="en-IN" sz="4000"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4000"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6000" dirty="0">
                <a:solidFill>
                  <a:schemeClr val="accent6">
                    <a:lumMod val="40000"/>
                    <a:lumOff val="6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6000" dirty="0">
              <a:solidFill>
                <a:schemeClr val="accent6">
                  <a:lumMod val="40000"/>
                  <a:lumOff val="60000"/>
                </a:schemeClr>
              </a:solidFill>
            </a:endParaRPr>
          </a:p>
        </p:txBody>
      </p:sp>
    </p:spTree>
    <p:extLst>
      <p:ext uri="{BB962C8B-B14F-4D97-AF65-F5344CB8AC3E}">
        <p14:creationId xmlns:p14="http://schemas.microsoft.com/office/powerpoint/2010/main" val="29961010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Facet</Template>
  <TotalTime>2721</TotalTime>
  <Words>1794</Words>
  <Application>Microsoft Office PowerPoint</Application>
  <PresentationFormat>Widescreen</PresentationFormat>
  <Paragraphs>245</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Bookman Old Style</vt:lpstr>
      <vt:lpstr>Calibri</vt:lpstr>
      <vt:lpstr>Cambria Math</vt:lpstr>
      <vt:lpstr>Rockwell</vt:lpstr>
      <vt:lpstr>Symbol</vt:lpstr>
      <vt:lpstr>Times New Roman</vt:lpstr>
      <vt:lpstr>Damask</vt:lpstr>
      <vt:lpstr>              TIME-SERIES ANALYSIS AND  FORECASTING OF MONTHLY  FEDERAL  RESERVE BOARD PRODUCTION  INDEX</vt:lpstr>
      <vt:lpstr>METHODOLOGY</vt:lpstr>
      <vt:lpstr>WhY Do we need to study production index?</vt:lpstr>
      <vt:lpstr>Objective of the study</vt:lpstr>
      <vt:lpstr>Data Description</vt:lpstr>
      <vt:lpstr>Brief Description on SARIMA Model</vt:lpstr>
      <vt:lpstr>ADF Test</vt:lpstr>
      <vt:lpstr>Ljung-Box test</vt:lpstr>
      <vt:lpstr>Analysis of the data</vt:lpstr>
      <vt:lpstr>Checking for stationarity of the series</vt:lpstr>
      <vt:lpstr>PowerPoint Presentation</vt:lpstr>
      <vt:lpstr>PowerPoint Presentation</vt:lpstr>
      <vt:lpstr>PowerPoint Presentation</vt:lpstr>
      <vt:lpstr>PowerPoint Presentation</vt:lpstr>
      <vt:lpstr>Fitting of appropriate model</vt:lpstr>
      <vt:lpstr>PowerPoint Presentation</vt:lpstr>
      <vt:lpstr>Testing of goodness of fit</vt:lpstr>
      <vt:lpstr>Forecasting</vt:lpstr>
      <vt:lpstr>Future scope of study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Poushali Dutta</dc:creator>
  <cp:lastModifiedBy>Poushali Dutta</cp:lastModifiedBy>
  <cp:revision>15</cp:revision>
  <dcterms:created xsi:type="dcterms:W3CDTF">2025-04-13T10:08:39Z</dcterms:created>
  <dcterms:modified xsi:type="dcterms:W3CDTF">2026-09-02T16:42:47Z</dcterms:modified>
</cp:coreProperties>
</file>